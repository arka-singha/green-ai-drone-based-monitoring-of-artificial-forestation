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57" r:id="rId4"/>
    <p:sldId id="266" r:id="rId5"/>
    <p:sldId id="258" r:id="rId6"/>
    <p:sldId id="265" r:id="rId7"/>
    <p:sldId id="261" r:id="rId8"/>
    <p:sldId id="262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00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8C2B7-EB5C-4D93-855B-8550A806DEE9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DD930-9DF9-4434-BBE5-5D27C0787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126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DD930-9DF9-4434-BBE5-5D27C0787AE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85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3C666-7EBC-5C71-9283-CDF005240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E4751-0AC5-9A27-F231-CEA88C31A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F1C13-92FE-3D0A-50EF-4E84A88D9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BD1DD-EFAC-DFC5-A84D-1BC14C08A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DD930-9DF9-4434-BBE5-5D27C0787AE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666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8BE4-3EE1-E0BD-5A86-7DED4D726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96813-0B1D-122F-7733-366929173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2E81D-0480-731A-90D7-4AF898D03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998AC-6604-4BA9-9A18-A415A4FEC1CD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5F01F-2D17-8DC3-3152-32AF4060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047B4-B8A1-D73A-CCB8-E1E3D1E2D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CD32-4D30-4CFB-9557-8140EC1E2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921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B5C0-73E2-530B-2E7E-5E1774E1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FE014-17CB-5195-2CA4-983399BCB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CD988-2A0A-2278-A75E-9B884B36D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998AC-6604-4BA9-9A18-A415A4FEC1CD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99387-1993-3311-C1D5-7A1070FD5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D042C-D56E-BE1D-8490-59A429358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CD32-4D30-4CFB-9557-8140EC1E2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60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EC1D9-F1E9-20B5-5078-010E5669A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D6FF7-99DC-4E05-089E-630BAD182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A6CEF-8FCC-616E-27DC-29AE795D7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998AC-6604-4BA9-9A18-A415A4FEC1CD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99FAD-5BE9-66D3-1201-899274B00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8D68C-85C6-BAC9-7284-B61068B9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CD32-4D30-4CFB-9557-8140EC1E2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26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605FF-5649-887A-2FBD-FF97161F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1D657-AEAB-C91E-2D25-C79185BC5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38FF2-7524-B171-C2D9-0838DE15E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79243-6D55-9FCF-2DA2-B11F824A9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998AC-6604-4BA9-9A18-A415A4FEC1CD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1AA02-6FA1-8772-C947-77D17922D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54EEF-59D8-E06F-CA71-ABEF9696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CD32-4D30-4CFB-9557-8140EC1E2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7B981-5656-509B-B808-BA49ECD11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5C020-26F6-BAC5-6CA6-8A49C9408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58C51-0228-D775-4818-A2254B576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8B2AF-9D68-4D37-1E6C-26CFAA3E4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58BDDF-35D6-0222-1950-CAB6CA12C8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A01CE5-DA61-EB87-7882-37979AA5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998AC-6604-4BA9-9A18-A415A4FEC1CD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50E2E-C4AD-0435-90D4-05C1370D4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7B7DC-895B-0B6F-3CFC-33CCE565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CD32-4D30-4CFB-9557-8140EC1E2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361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FAD3-8D9F-2AD6-49F4-AB96177CF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74B527-E39B-A71C-FD49-3F8069D8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998AC-6604-4BA9-9A18-A415A4FEC1CD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C2567-639E-338E-B07C-779DE158C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0E3E9-2A00-5A5F-2B36-8CA89D3D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CD32-4D30-4CFB-9557-8140EC1E2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60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CAB155-EA87-3B44-993D-84F47576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998AC-6604-4BA9-9A18-A415A4FEC1CD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1EA14-3061-DD1B-FC91-3B051F47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CC5DB-2093-FE67-68DD-40578B33F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CD32-4D30-4CFB-9557-8140EC1E2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1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AD8D1-800E-EC82-372D-29C86FB6C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60D96-D606-BF38-8BF3-8357C8A01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74987-8FA8-038F-3D20-97859BC32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67A05-9E05-A9C3-77B9-6B5C518D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998AC-6604-4BA9-9A18-A415A4FEC1CD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66B1B-6232-1516-7CDF-3014329E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EBC99-4894-838F-D481-46CD9C47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CD32-4D30-4CFB-9557-8140EC1E2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91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3343D-49CE-1B5F-5C79-FDD59F97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C428CB-7A11-374E-DF8B-93C1AA561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8D776-CD1B-564C-A208-EEE908D89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E7A83-C43B-354C-1A0C-762C4D280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998AC-6604-4BA9-9A18-A415A4FEC1CD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47099-AAAF-0541-A32F-ACFD17092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B243E-3C2A-25FE-FE30-7097BF26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CD32-4D30-4CFB-9557-8140EC1E2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182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0ABE6-972F-264D-E9D4-249999CB4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F79E2-8799-02B1-9F25-E46F866C9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C121B-7B7B-028D-8193-5A184C8E6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998AC-6604-4BA9-9A18-A415A4FEC1CD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68B56-3F8B-6F3F-63D2-A63D10CE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50EAC-F42E-291D-EA8F-0B3D0236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CD32-4D30-4CFB-9557-8140EC1E2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80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754ACB-C979-BD70-E43F-0D3CF1EC1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8CBD7-47AA-24B4-B44F-A84D3148F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3F139-8421-197D-B759-9A6AE206E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998AC-6604-4BA9-9A18-A415A4FEC1CD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DE058-C45B-1A37-277C-4855C6844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A0EDA-F6F9-7F31-A2B0-F65CDC722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ACD32-4D30-4CFB-9557-8140EC1E2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976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B33FFD-18B2-CAD6-89DB-95D61ED14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3DE09-DB58-331F-66F7-62FE52EBE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D5F1D-1C01-DF35-488E-79C241570B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998AC-6604-4BA9-9A18-A415A4FEC1CD}" type="datetimeFigureOut">
              <a:rPr lang="en-IN" smtClean="0"/>
              <a:t>18-01-2025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DFB0F-9D09-6332-137D-71C8D9B28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119F-CD19-8F78-D23E-952C2750A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ACD32-4D30-4CFB-9557-8140EC1E2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98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mdpi.com/1999-4907/13/2/17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SmileTemplates.com">
            <a:extLst>
              <a:ext uri="{FF2B5EF4-FFF2-40B4-BE49-F238E27FC236}">
                <a16:creationId xmlns:a16="http://schemas.microsoft.com/office/drawing/2014/main" id="{D07FA7C1-798C-ED14-BACC-2808C8625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8900" y="-39964"/>
            <a:ext cx="12280900" cy="692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orrest PNGs for Free Download">
            <a:extLst>
              <a:ext uri="{FF2B5EF4-FFF2-40B4-BE49-F238E27FC236}">
                <a16:creationId xmlns:a16="http://schemas.microsoft.com/office/drawing/2014/main" id="{58CE8F06-A2B1-0BC7-E0B8-78233084B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721" y="3429000"/>
            <a:ext cx="5331279" cy="355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127534-6417-D49F-35D2-05921D1933C8}"/>
              </a:ext>
            </a:extLst>
          </p:cNvPr>
          <p:cNvSpPr txBox="1"/>
          <p:nvPr/>
        </p:nvSpPr>
        <p:spPr>
          <a:xfrm>
            <a:off x="601588" y="463924"/>
            <a:ext cx="115904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A50021"/>
                </a:solidFill>
                <a:latin typeface="Bauhaus 93" panose="04030905020B02020C02" pitchFamily="82" charset="0"/>
              </a:rPr>
              <a:t>Green AI - </a:t>
            </a:r>
            <a:r>
              <a:rPr lang="en-US" sz="3000" dirty="0">
                <a:solidFill>
                  <a:srgbClr val="A50021"/>
                </a:solidFill>
                <a:effectLst/>
                <a:latin typeface="Bauhaus 93" panose="04030905020B02020C02" pitchFamily="82" charset="0"/>
              </a:rPr>
              <a:t>ML/AI to compare drone images of an afforestation patch and point out casualties.</a:t>
            </a:r>
            <a:endParaRPr lang="en-IN" sz="3000" dirty="0">
              <a:solidFill>
                <a:srgbClr val="A50021"/>
              </a:solidFill>
              <a:latin typeface="Bauhaus 93" panose="04030905020B02020C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DC1E68-1AA3-7881-8DD7-A41E774890DC}"/>
              </a:ext>
            </a:extLst>
          </p:cNvPr>
          <p:cNvSpPr txBox="1"/>
          <p:nvPr/>
        </p:nvSpPr>
        <p:spPr>
          <a:xfrm>
            <a:off x="3086100" y="1960107"/>
            <a:ext cx="60198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ID</a:t>
            </a:r>
            <a:r>
              <a:rPr 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i="0" dirty="0">
                <a:solidFill>
                  <a:srgbClr val="A50021"/>
                </a:solidFill>
                <a:effectLst/>
                <a:latin typeface="Exo"/>
              </a:rPr>
              <a:t>25KTJGREA746575</a:t>
            </a:r>
          </a:p>
          <a:p>
            <a:endParaRPr lang="en-US" sz="3000" b="1" i="1" kern="12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i="1" kern="12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3000" b="1" kern="12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i="1" kern="12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(Member 1) - </a:t>
            </a:r>
            <a:r>
              <a:rPr lang="en-US" sz="3000" b="1" kern="12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Arka Singha     </a:t>
            </a:r>
          </a:p>
          <a:p>
            <a:r>
              <a:rPr lang="en-US" sz="3000" b="1" i="1" kern="12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KTJ ID </a:t>
            </a:r>
            <a:r>
              <a:rPr lang="en-US" sz="3000" b="1" kern="12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- 25KTJARK358809</a:t>
            </a:r>
          </a:p>
        </p:txBody>
      </p:sp>
    </p:spTree>
    <p:extLst>
      <p:ext uri="{BB962C8B-B14F-4D97-AF65-F5344CB8AC3E}">
        <p14:creationId xmlns:p14="http://schemas.microsoft.com/office/powerpoint/2010/main" val="2394596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0120F-B715-3E3E-2298-D4CD8E8E6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AF72D1F3-7C87-B048-BFF2-078CF9066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1932523"/>
            <a:ext cx="11226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utilizes Green AI methodologies to analyze drone-captured images of afforestation patches, aiming to detect casualties and monitor tree growth. Initially, pits of dimensions 45×45×45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times 45 times 45 cm are identified, and their geo-coordinates are extracted using feature matching from image metadata. The pixel-to-coordinate mapping is performed on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orthomosaics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the center of the pits is saved in a lookup table. For subsequent ortho mosaics, 3D reconstructions via COLMAR software identify the highest local maxima (tree tips) using pixel-to-height mapping and 8-connectivity searches. Differences in tree height across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orthomosaics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calculated, allowing for the identification of growth patterns: positive, negative, or neutral, indicating growing, decaying, or diseased conditions, respectively. Spatial filters, Difference of Gaussians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and region-growing algorithms refine green pixel clusters for individual tree analysis. Advanced models like U-Net and DeepLabV3+ are leveraged to segment greenery from the soil, while vegetation health indices (GCI and NDVI) are used for sapling evaluation, providing a robust framework for monitoring forest health dynamically and effectively.</a:t>
            </a:r>
          </a:p>
        </p:txBody>
      </p:sp>
    </p:spTree>
    <p:extLst>
      <p:ext uri="{BB962C8B-B14F-4D97-AF65-F5344CB8AC3E}">
        <p14:creationId xmlns:p14="http://schemas.microsoft.com/office/powerpoint/2010/main" val="60437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Quadcopter PNG Transparent Images Free ...">
            <a:extLst>
              <a:ext uri="{FF2B5EF4-FFF2-40B4-BE49-F238E27FC236}">
                <a16:creationId xmlns:a16="http://schemas.microsoft.com/office/drawing/2014/main" id="{05283B7D-A119-C926-4D78-0B9F933F6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501" y="1062670"/>
            <a:ext cx="454705" cy="45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ile Png Images - Free Download on Freepik">
            <a:extLst>
              <a:ext uri="{FF2B5EF4-FFF2-40B4-BE49-F238E27FC236}">
                <a16:creationId xmlns:a16="http://schemas.microsoft.com/office/drawing/2014/main" id="{BFA663E3-76D9-BA48-9853-E9833E62B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2283" y="1062670"/>
            <a:ext cx="936172" cy="93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16" descr="Aerial View - Dense Green Forest - CleanPNG / KissPNG">
            <a:extLst>
              <a:ext uri="{FF2B5EF4-FFF2-40B4-BE49-F238E27FC236}">
                <a16:creationId xmlns:a16="http://schemas.microsoft.com/office/drawing/2014/main" id="{C4748CC8-8BA8-B1B0-88B0-FEEE472895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670602"/>
            <a:ext cx="3215598" cy="3215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72" name="Picture 24" descr="279 Deep Hole Soil Garden Stock Photos - Free &amp; Royalty-Free Stock Photos  from Dreamstime">
            <a:extLst>
              <a:ext uri="{FF2B5EF4-FFF2-40B4-BE49-F238E27FC236}">
                <a16:creationId xmlns:a16="http://schemas.microsoft.com/office/drawing/2014/main" id="{D7B856E7-2706-7327-87F9-C5F987D77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876" y="1288416"/>
            <a:ext cx="831603" cy="554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6B7044C-EEE3-7B3A-A8D9-B6BC9E7ACF7B}"/>
              </a:ext>
            </a:extLst>
          </p:cNvPr>
          <p:cNvSpPr txBox="1"/>
          <p:nvPr/>
        </p:nvSpPr>
        <p:spPr>
          <a:xfrm>
            <a:off x="2966809" y="1862300"/>
            <a:ext cx="194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Drone Images  1</a:t>
            </a:r>
            <a:endParaRPr lang="en-IN" dirty="0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6AA97BA-0FAB-9D00-69D8-6B445051B7C1}"/>
              </a:ext>
            </a:extLst>
          </p:cNvPr>
          <p:cNvCxnSpPr>
            <a:stCxn id="2072" idx="3"/>
            <a:endCxn id="2054" idx="1"/>
          </p:cNvCxnSpPr>
          <p:nvPr/>
        </p:nvCxnSpPr>
        <p:spPr>
          <a:xfrm flipV="1">
            <a:off x="1921479" y="1530756"/>
            <a:ext cx="1250804" cy="346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09BED18-266F-FED6-6934-0D9CC97D7920}"/>
              </a:ext>
            </a:extLst>
          </p:cNvPr>
          <p:cNvSpPr/>
          <p:nvPr/>
        </p:nvSpPr>
        <p:spPr>
          <a:xfrm>
            <a:off x="5330037" y="1288416"/>
            <a:ext cx="2053770" cy="60915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Orthomosaic</a:t>
            </a:r>
            <a:r>
              <a:rPr lang="en-IN" dirty="0"/>
              <a:t> 1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D3024FA-9AAA-8B63-4AAE-7B5F97958BBB}"/>
              </a:ext>
            </a:extLst>
          </p:cNvPr>
          <p:cNvSpPr/>
          <p:nvPr/>
        </p:nvSpPr>
        <p:spPr>
          <a:xfrm>
            <a:off x="8066998" y="515987"/>
            <a:ext cx="2794000" cy="60915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Detect Pits of 45</a:t>
            </a:r>
            <a:r>
              <a:rPr lang="en-IN" b="0" i="0" dirty="0">
                <a:solidFill>
                  <a:srgbClr val="FFFFFF"/>
                </a:solidFill>
                <a:effectLst/>
                <a:latin typeface="Google Sans"/>
              </a:rPr>
              <a:t>×</a:t>
            </a:r>
            <a:r>
              <a:rPr lang="en-US" dirty="0"/>
              <a:t>45</a:t>
            </a:r>
            <a:r>
              <a:rPr lang="en-IN" b="0" i="0" dirty="0">
                <a:solidFill>
                  <a:srgbClr val="FFFFFF"/>
                </a:solidFill>
                <a:effectLst/>
                <a:latin typeface="Google Sans"/>
              </a:rPr>
              <a:t>×45cmv</a:t>
            </a:r>
            <a:endParaRPr lang="en-IN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E85C8A6-1A93-BC37-075F-82E4B7D3C146}"/>
              </a:ext>
            </a:extLst>
          </p:cNvPr>
          <p:cNvSpPr/>
          <p:nvPr/>
        </p:nvSpPr>
        <p:spPr>
          <a:xfrm>
            <a:off x="9194800" y="3205429"/>
            <a:ext cx="2794000" cy="183923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nvaSans"/>
              </a:rPr>
              <a:t>Extract the Geo-Coordinates from the metadata of the small images after feature-matching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849951-3B13-779E-A0E0-CE6AF6EA5DF2}"/>
              </a:ext>
            </a:extLst>
          </p:cNvPr>
          <p:cNvSpPr txBox="1"/>
          <p:nvPr/>
        </p:nvSpPr>
        <p:spPr>
          <a:xfrm>
            <a:off x="4235453" y="1224344"/>
            <a:ext cx="981872" cy="36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effectLst/>
                <a:latin typeface="CanvaSans"/>
              </a:rPr>
              <a:t>Pix4D</a:t>
            </a:r>
            <a:endParaRPr lang="en-IN" dirty="0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A5FB73B7-3E1C-EFC0-986A-CD92EE18EB7E}"/>
              </a:ext>
            </a:extLst>
          </p:cNvPr>
          <p:cNvCxnSpPr>
            <a:cxnSpLocks/>
            <a:stCxn id="2054" idx="3"/>
            <a:endCxn id="34" idx="1"/>
          </p:cNvCxnSpPr>
          <p:nvPr/>
        </p:nvCxnSpPr>
        <p:spPr>
          <a:xfrm>
            <a:off x="4108455" y="1530756"/>
            <a:ext cx="1221582" cy="622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865704B-95D9-2B5A-49FC-E5199A04569B}"/>
              </a:ext>
            </a:extLst>
          </p:cNvPr>
          <p:cNvSpPr/>
          <p:nvPr/>
        </p:nvSpPr>
        <p:spPr>
          <a:xfrm>
            <a:off x="9541356" y="5346700"/>
            <a:ext cx="2100887" cy="123132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pixel-to-coordinate </a:t>
            </a:r>
          </a:p>
          <a:p>
            <a:pPr algn="ctr"/>
            <a:r>
              <a:rPr lang="en-IN" dirty="0"/>
              <a:t>mapping on the </a:t>
            </a:r>
            <a:r>
              <a:rPr lang="en-IN" dirty="0" err="1"/>
              <a:t>Orthomosaic</a:t>
            </a:r>
            <a:r>
              <a:rPr lang="en-IN" dirty="0"/>
              <a:t>.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3C9D54A-5581-3D29-4888-45332F5CC807}"/>
              </a:ext>
            </a:extLst>
          </p:cNvPr>
          <p:cNvSpPr/>
          <p:nvPr/>
        </p:nvSpPr>
        <p:spPr>
          <a:xfrm>
            <a:off x="10382360" y="1790981"/>
            <a:ext cx="1606439" cy="9602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the center of the pits</a:t>
            </a:r>
            <a:endParaRPr lang="en-IN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DE7C852-F991-C82C-84C4-A4B8B365E716}"/>
              </a:ext>
            </a:extLst>
          </p:cNvPr>
          <p:cNvSpPr/>
          <p:nvPr/>
        </p:nvSpPr>
        <p:spPr>
          <a:xfrm>
            <a:off x="3172284" y="5346699"/>
            <a:ext cx="5734360" cy="123132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IN" dirty="0" err="1"/>
              <a:t>ave</a:t>
            </a:r>
            <a:r>
              <a:rPr lang="en-IN" dirty="0"/>
              <a:t> it as a LOOK UP TABLE</a:t>
            </a:r>
          </a:p>
          <a:p>
            <a:pPr algn="ctr"/>
            <a:r>
              <a:rPr lang="en-IN" dirty="0"/>
              <a:t>|Grid </a:t>
            </a:r>
            <a:r>
              <a:rPr lang="en-IN" dirty="0" err="1"/>
              <a:t>No.|Centre</a:t>
            </a:r>
            <a:r>
              <a:rPr lang="en-IN" dirty="0"/>
              <a:t> </a:t>
            </a:r>
            <a:r>
              <a:rPr lang="en-IN" dirty="0" err="1"/>
              <a:t>Pixel|Latitude|Longitude|Altitude</a:t>
            </a:r>
            <a:r>
              <a:rPr lang="en-IN" dirty="0"/>
              <a:t>|</a:t>
            </a:r>
          </a:p>
        </p:txBody>
      </p:sp>
      <p:cxnSp>
        <p:nvCxnSpPr>
          <p:cNvPr id="2051" name="Connector: Elbow 2050">
            <a:extLst>
              <a:ext uri="{FF2B5EF4-FFF2-40B4-BE49-F238E27FC236}">
                <a16:creationId xmlns:a16="http://schemas.microsoft.com/office/drawing/2014/main" id="{8787755B-4CC8-34F6-FFB5-84A02EE66979}"/>
              </a:ext>
            </a:extLst>
          </p:cNvPr>
          <p:cNvCxnSpPr>
            <a:stCxn id="34" idx="3"/>
            <a:endCxn id="37" idx="1"/>
          </p:cNvCxnSpPr>
          <p:nvPr/>
        </p:nvCxnSpPr>
        <p:spPr>
          <a:xfrm flipV="1">
            <a:off x="7383807" y="820563"/>
            <a:ext cx="683191" cy="7724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Connector: Elbow 2054">
            <a:extLst>
              <a:ext uri="{FF2B5EF4-FFF2-40B4-BE49-F238E27FC236}">
                <a16:creationId xmlns:a16="http://schemas.microsoft.com/office/drawing/2014/main" id="{15A58310-BFB8-DA20-01E3-8B5118E5876A}"/>
              </a:ext>
            </a:extLst>
          </p:cNvPr>
          <p:cNvCxnSpPr>
            <a:cxnSpLocks/>
            <a:stCxn id="37" idx="2"/>
            <a:endCxn id="62" idx="0"/>
          </p:cNvCxnSpPr>
          <p:nvPr/>
        </p:nvCxnSpPr>
        <p:spPr>
          <a:xfrm rot="16200000" flipH="1">
            <a:off x="9991868" y="597268"/>
            <a:ext cx="665843" cy="17215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" name="Connector: Elbow 2057">
            <a:extLst>
              <a:ext uri="{FF2B5EF4-FFF2-40B4-BE49-F238E27FC236}">
                <a16:creationId xmlns:a16="http://schemas.microsoft.com/office/drawing/2014/main" id="{F368808E-6D65-75E5-46BE-B3F889703611}"/>
              </a:ext>
            </a:extLst>
          </p:cNvPr>
          <p:cNvCxnSpPr>
            <a:cxnSpLocks/>
          </p:cNvCxnSpPr>
          <p:nvPr/>
        </p:nvCxnSpPr>
        <p:spPr>
          <a:xfrm rot="5400000">
            <a:off x="9663878" y="2429559"/>
            <a:ext cx="454248" cy="5937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0" name="Connector: Elbow 2059">
            <a:extLst>
              <a:ext uri="{FF2B5EF4-FFF2-40B4-BE49-F238E27FC236}">
                <a16:creationId xmlns:a16="http://schemas.microsoft.com/office/drawing/2014/main" id="{EC1562FD-2C8A-ED92-78C7-657390E19165}"/>
              </a:ext>
            </a:extLst>
          </p:cNvPr>
          <p:cNvCxnSpPr>
            <a:stCxn id="38" idx="2"/>
            <a:endCxn id="60" idx="0"/>
          </p:cNvCxnSpPr>
          <p:nvPr/>
        </p:nvCxnSpPr>
        <p:spPr>
          <a:xfrm rot="5400000">
            <a:off x="10440782" y="5195681"/>
            <a:ext cx="302037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Connector: Elbow 2061">
            <a:extLst>
              <a:ext uri="{FF2B5EF4-FFF2-40B4-BE49-F238E27FC236}">
                <a16:creationId xmlns:a16="http://schemas.microsoft.com/office/drawing/2014/main" id="{0D87D85F-FE1C-CE87-1206-34934C9B4D44}"/>
              </a:ext>
            </a:extLst>
          </p:cNvPr>
          <p:cNvCxnSpPr>
            <a:cxnSpLocks/>
            <a:stCxn id="60" idx="1"/>
            <a:endCxn id="63" idx="3"/>
          </p:cNvCxnSpPr>
          <p:nvPr/>
        </p:nvCxnSpPr>
        <p:spPr>
          <a:xfrm rot="10800000">
            <a:off x="8906644" y="5962361"/>
            <a:ext cx="634712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9" name="Rectangle: Rounded Corners 2078">
            <a:extLst>
              <a:ext uri="{FF2B5EF4-FFF2-40B4-BE49-F238E27FC236}">
                <a16:creationId xmlns:a16="http://schemas.microsoft.com/office/drawing/2014/main" id="{23BB9ED4-A075-E3A4-0DBE-931DC5FA009A}"/>
              </a:ext>
            </a:extLst>
          </p:cNvPr>
          <p:cNvSpPr/>
          <p:nvPr/>
        </p:nvSpPr>
        <p:spPr>
          <a:xfrm>
            <a:off x="7911144" y="2042836"/>
            <a:ext cx="1411170" cy="83479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IN" dirty="0" err="1"/>
              <a:t>plit</a:t>
            </a:r>
            <a:r>
              <a:rPr lang="en-IN" dirty="0"/>
              <a:t> it into Grids</a:t>
            </a:r>
          </a:p>
        </p:txBody>
      </p:sp>
      <p:cxnSp>
        <p:nvCxnSpPr>
          <p:cNvPr id="2087" name="Connector: Elbow 2086">
            <a:extLst>
              <a:ext uri="{FF2B5EF4-FFF2-40B4-BE49-F238E27FC236}">
                <a16:creationId xmlns:a16="http://schemas.microsoft.com/office/drawing/2014/main" id="{76A389B4-1C91-4152-0FC8-F94E2118F6B4}"/>
              </a:ext>
            </a:extLst>
          </p:cNvPr>
          <p:cNvCxnSpPr>
            <a:stCxn id="37" idx="2"/>
            <a:endCxn id="2079" idx="0"/>
          </p:cNvCxnSpPr>
          <p:nvPr/>
        </p:nvCxnSpPr>
        <p:spPr>
          <a:xfrm rot="5400000">
            <a:off x="8581515" y="1160353"/>
            <a:ext cx="917698" cy="8472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Connector: Elbow 2091">
            <a:extLst>
              <a:ext uri="{FF2B5EF4-FFF2-40B4-BE49-F238E27FC236}">
                <a16:creationId xmlns:a16="http://schemas.microsoft.com/office/drawing/2014/main" id="{F24A4E25-3402-E680-A25E-4794BE18FE5D}"/>
              </a:ext>
            </a:extLst>
          </p:cNvPr>
          <p:cNvCxnSpPr>
            <a:cxnSpLocks/>
            <a:stCxn id="2079" idx="2"/>
            <a:endCxn id="63" idx="0"/>
          </p:cNvCxnSpPr>
          <p:nvPr/>
        </p:nvCxnSpPr>
        <p:spPr>
          <a:xfrm rot="5400000">
            <a:off x="6093563" y="2823533"/>
            <a:ext cx="2469068" cy="25772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3" name="TextBox 2102">
            <a:extLst>
              <a:ext uri="{FF2B5EF4-FFF2-40B4-BE49-F238E27FC236}">
                <a16:creationId xmlns:a16="http://schemas.microsoft.com/office/drawing/2014/main" id="{ADE9B897-1E41-41A5-6A74-E719E4F95F86}"/>
              </a:ext>
            </a:extLst>
          </p:cNvPr>
          <p:cNvSpPr txBox="1"/>
          <p:nvPr/>
        </p:nvSpPr>
        <p:spPr>
          <a:xfrm>
            <a:off x="190973" y="328529"/>
            <a:ext cx="7326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kern="1200" dirty="0">
                <a:solidFill>
                  <a:srgbClr val="FF6600"/>
                </a:solidFill>
                <a:latin typeface="+mn-lt"/>
                <a:ea typeface="+mn-ea"/>
                <a:cs typeface="+mn-cs"/>
              </a:rPr>
              <a:t>Flow of Algorithm on Drone Images 1 </a:t>
            </a:r>
            <a:r>
              <a:rPr lang="en-US" sz="2800" b="1" dirty="0">
                <a:solidFill>
                  <a:srgbClr val="FF6600"/>
                </a:solidFill>
              </a:rPr>
              <a:t>a</a:t>
            </a:r>
            <a:r>
              <a:rPr lang="en-US" sz="2800" b="1" kern="1200" dirty="0">
                <a:solidFill>
                  <a:srgbClr val="FF6600"/>
                </a:solidFill>
                <a:latin typeface="+mn-lt"/>
                <a:ea typeface="+mn-ea"/>
                <a:cs typeface="+mn-cs"/>
              </a:rPr>
              <a:t>fter OP1</a:t>
            </a:r>
          </a:p>
        </p:txBody>
      </p:sp>
    </p:spTree>
    <p:extLst>
      <p:ext uri="{BB962C8B-B14F-4D97-AF65-F5344CB8AC3E}">
        <p14:creationId xmlns:p14="http://schemas.microsoft.com/office/powerpoint/2010/main" val="3736966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848D66-6F9D-5D37-CF86-3E9FB746449E}"/>
              </a:ext>
            </a:extLst>
          </p:cNvPr>
          <p:cNvSpPr txBox="1"/>
          <p:nvPr/>
        </p:nvSpPr>
        <p:spPr>
          <a:xfrm>
            <a:off x="447669" y="332266"/>
            <a:ext cx="4049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detection we can use SAM2 model</a:t>
            </a:r>
          </a:p>
          <a:p>
            <a:endParaRPr lang="en-IN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8F7121B-D248-A5A8-2B85-4896F4630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57" y="848084"/>
            <a:ext cx="4582499" cy="2365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F34009A-8B97-5E27-5D71-5050D6F8B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725" y="853164"/>
            <a:ext cx="2371703" cy="260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9A5C4A-DC93-754D-87C5-2355058865CE}"/>
              </a:ext>
            </a:extLst>
          </p:cNvPr>
          <p:cNvSpPr txBox="1"/>
          <p:nvPr/>
        </p:nvSpPr>
        <p:spPr>
          <a:xfrm>
            <a:off x="500057" y="3180088"/>
            <a:ext cx="3103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Semantic Segmentation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28E732-ADA8-9F09-7B91-60E656261625}"/>
              </a:ext>
            </a:extLst>
          </p:cNvPr>
          <p:cNvSpPr txBox="1"/>
          <p:nvPr/>
        </p:nvSpPr>
        <p:spPr>
          <a:xfrm>
            <a:off x="500058" y="4071257"/>
            <a:ext cx="92317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Masks from where we can calculate the Area and Locate pixels of saplings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features from those pixel locations of the real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Search and traverse through images to find that sampling in raw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found, extract the geo-coordinates from the metadata of the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to the Look Up Table with that pixel number.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CEB308-82F6-AF98-1F56-439E967BE2D5}"/>
              </a:ext>
            </a:extLst>
          </p:cNvPr>
          <p:cNvSpPr txBox="1"/>
          <p:nvPr/>
        </p:nvSpPr>
        <p:spPr>
          <a:xfrm>
            <a:off x="4767942" y="34597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Extracting and Displaying Individually Extracted Masks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15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File Png Images - Free Download on Freepik">
            <a:extLst>
              <a:ext uri="{FF2B5EF4-FFF2-40B4-BE49-F238E27FC236}">
                <a16:creationId xmlns:a16="http://schemas.microsoft.com/office/drawing/2014/main" id="{C6A8CE29-8DA3-D363-60E5-7BA8D115D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963" y="559146"/>
            <a:ext cx="936172" cy="93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12" descr="Aerial View - Dense Green Forest - CleanPNG / KissPNG">
            <a:extLst>
              <a:ext uri="{FF2B5EF4-FFF2-40B4-BE49-F238E27FC236}">
                <a16:creationId xmlns:a16="http://schemas.microsoft.com/office/drawing/2014/main" id="{E1EAF054-48FD-3309-FC1F-EBFD148FFD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53905" y="466560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4" descr="Quadcopter PNG Transparent Images Free ...">
            <a:extLst>
              <a:ext uri="{FF2B5EF4-FFF2-40B4-BE49-F238E27FC236}">
                <a16:creationId xmlns:a16="http://schemas.microsoft.com/office/drawing/2014/main" id="{AB690A80-CA3D-34BC-F4EA-867F37BDC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406" y="596113"/>
            <a:ext cx="454705" cy="45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2D11AF1-DD83-F869-336A-9BE9C842FB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02" y="665756"/>
            <a:ext cx="831603" cy="77012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AD9A685-1C84-57AE-BD17-09CCF33FF904}"/>
              </a:ext>
            </a:extLst>
          </p:cNvPr>
          <p:cNvSpPr txBox="1"/>
          <p:nvPr/>
        </p:nvSpPr>
        <p:spPr>
          <a:xfrm>
            <a:off x="2551454" y="1261448"/>
            <a:ext cx="194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Drone Images  2</a:t>
            </a:r>
            <a:endParaRPr lang="en-IN" dirty="0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B631489-6ADC-4888-F30C-6E8C33DB64EB}"/>
              </a:ext>
            </a:extLst>
          </p:cNvPr>
          <p:cNvCxnSpPr>
            <a:endCxn id="4" idx="1"/>
          </p:cNvCxnSpPr>
          <p:nvPr/>
        </p:nvCxnSpPr>
        <p:spPr>
          <a:xfrm flipV="1">
            <a:off x="1643233" y="1027232"/>
            <a:ext cx="1115730" cy="393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CEE9908-7F1E-9E6E-9235-E790E8DDE7EA}"/>
              </a:ext>
            </a:extLst>
          </p:cNvPr>
          <p:cNvSpPr/>
          <p:nvPr/>
        </p:nvSpPr>
        <p:spPr>
          <a:xfrm>
            <a:off x="4916716" y="747994"/>
            <a:ext cx="2053770" cy="60915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Orthomosaic</a:t>
            </a:r>
            <a:r>
              <a:rPr lang="en-IN" dirty="0"/>
              <a:t>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01339D-D533-1D3B-56A0-DA94268A008E}"/>
              </a:ext>
            </a:extLst>
          </p:cNvPr>
          <p:cNvSpPr txBox="1"/>
          <p:nvPr/>
        </p:nvSpPr>
        <p:spPr>
          <a:xfrm>
            <a:off x="3855638" y="581601"/>
            <a:ext cx="981872" cy="36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effectLst/>
                <a:latin typeface="CanvaSans"/>
              </a:rPr>
              <a:t>Pix4D</a:t>
            </a:r>
            <a:endParaRPr lang="en-IN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6E148C1-D436-155A-EDF8-FFA51F71EB3A}"/>
              </a:ext>
            </a:extLst>
          </p:cNvPr>
          <p:cNvCxnSpPr>
            <a:cxnSpLocks/>
            <a:stCxn id="4" idx="3"/>
            <a:endCxn id="35" idx="1"/>
          </p:cNvCxnSpPr>
          <p:nvPr/>
        </p:nvCxnSpPr>
        <p:spPr>
          <a:xfrm>
            <a:off x="3695135" y="1027232"/>
            <a:ext cx="1221581" cy="253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16" descr="Aerial View - Dense Green Forest - CleanPNG / KissPNG">
            <a:extLst>
              <a:ext uri="{FF2B5EF4-FFF2-40B4-BE49-F238E27FC236}">
                <a16:creationId xmlns:a16="http://schemas.microsoft.com/office/drawing/2014/main" id="{E5B9E4FF-B22B-B665-F3FC-A083919D28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670602"/>
            <a:ext cx="3215598" cy="3215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61F6232-2046-F929-84A0-3908105462FA}"/>
              </a:ext>
            </a:extLst>
          </p:cNvPr>
          <p:cNvSpPr/>
          <p:nvPr/>
        </p:nvSpPr>
        <p:spPr>
          <a:xfrm>
            <a:off x="9130167" y="2870940"/>
            <a:ext cx="2794000" cy="183923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nvaSans"/>
              </a:rPr>
              <a:t>Extract the Geo-Coordinates from the metadata of the small images after feature-matching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F0094D-D0A6-F433-E41F-D2C268D6E8AB}"/>
              </a:ext>
            </a:extLst>
          </p:cNvPr>
          <p:cNvSpPr/>
          <p:nvPr/>
        </p:nvSpPr>
        <p:spPr>
          <a:xfrm>
            <a:off x="9541356" y="5346700"/>
            <a:ext cx="2100887" cy="123132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pixel-to-coordinate</a:t>
            </a:r>
          </a:p>
          <a:p>
            <a:pPr algn="ctr"/>
            <a:r>
              <a:rPr lang="en-IN" dirty="0"/>
              <a:t>Pixel-to-height </a:t>
            </a:r>
          </a:p>
          <a:p>
            <a:pPr algn="ctr"/>
            <a:r>
              <a:rPr lang="en-IN" dirty="0"/>
              <a:t>mapping on the </a:t>
            </a:r>
            <a:r>
              <a:rPr lang="en-IN" dirty="0" err="1"/>
              <a:t>Orthomosaic</a:t>
            </a:r>
            <a:r>
              <a:rPr lang="en-IN" dirty="0"/>
              <a:t>.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A33A896-5F54-194D-8EE9-80E1E9EABCD6}"/>
              </a:ext>
            </a:extLst>
          </p:cNvPr>
          <p:cNvCxnSpPr>
            <a:cxnSpLocks/>
            <a:stCxn id="35" idx="3"/>
            <a:endCxn id="11" idx="0"/>
          </p:cNvCxnSpPr>
          <p:nvPr/>
        </p:nvCxnSpPr>
        <p:spPr>
          <a:xfrm>
            <a:off x="6970486" y="1052570"/>
            <a:ext cx="3556681" cy="18183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B6AA6F4-809F-D86E-473E-0C9A44CA5F0F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rot="16200000" flipH="1">
            <a:off x="10241220" y="4996120"/>
            <a:ext cx="636526" cy="646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ACD68D0-AE5B-86CE-5B6A-DFFE610CC952}"/>
              </a:ext>
            </a:extLst>
          </p:cNvPr>
          <p:cNvSpPr txBox="1"/>
          <p:nvPr/>
        </p:nvSpPr>
        <p:spPr>
          <a:xfrm>
            <a:off x="2576362" y="1715254"/>
            <a:ext cx="3966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/>
              <a:t>COLMAR</a:t>
            </a:r>
            <a:r>
              <a:rPr lang="en-IN" dirty="0"/>
              <a:t> Software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38B960A-63E1-730F-7EEC-419F183D590F}"/>
              </a:ext>
            </a:extLst>
          </p:cNvPr>
          <p:cNvSpPr/>
          <p:nvPr/>
        </p:nvSpPr>
        <p:spPr>
          <a:xfrm>
            <a:off x="2642169" y="2113965"/>
            <a:ext cx="1726631" cy="809206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3-D Reconstruction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A5D0331-E80B-7039-01E4-52167291DAF8}"/>
              </a:ext>
            </a:extLst>
          </p:cNvPr>
          <p:cNvSpPr/>
          <p:nvPr/>
        </p:nvSpPr>
        <p:spPr>
          <a:xfrm>
            <a:off x="2697184" y="3184414"/>
            <a:ext cx="1635897" cy="80920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IN" dirty="0"/>
              <a:t>elect local Maximums in Z axis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45141C1-77F3-4972-298F-21B2C85255E5}"/>
              </a:ext>
            </a:extLst>
          </p:cNvPr>
          <p:cNvSpPr/>
          <p:nvPr/>
        </p:nvSpPr>
        <p:spPr>
          <a:xfrm>
            <a:off x="321023" y="3147782"/>
            <a:ext cx="1602687" cy="97396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Eliminate maximums lesser than the highest maxima in a grid </a:t>
            </a:r>
            <a:endParaRPr lang="en-IN" sz="140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F829F80-14D4-3C1F-B3BA-FECF36B10596}"/>
              </a:ext>
            </a:extLst>
          </p:cNvPr>
          <p:cNvSpPr/>
          <p:nvPr/>
        </p:nvSpPr>
        <p:spPr>
          <a:xfrm>
            <a:off x="1739388" y="5524651"/>
            <a:ext cx="7598543" cy="123132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IN" dirty="0" err="1"/>
              <a:t>ave</a:t>
            </a:r>
            <a:r>
              <a:rPr lang="en-IN" dirty="0"/>
              <a:t> it to a new LOOK UP TABLE</a:t>
            </a:r>
          </a:p>
          <a:p>
            <a:pPr algn="ctr"/>
            <a:r>
              <a:rPr lang="en-IN" dirty="0"/>
              <a:t>|Grid </a:t>
            </a:r>
            <a:r>
              <a:rPr lang="en-IN" dirty="0" err="1"/>
              <a:t>No.|Centre</a:t>
            </a:r>
            <a:r>
              <a:rPr lang="en-IN" dirty="0"/>
              <a:t> </a:t>
            </a:r>
            <a:r>
              <a:rPr lang="en-IN" dirty="0" err="1"/>
              <a:t>Pixel|Latitude|Longitude|Altitude</a:t>
            </a:r>
            <a:r>
              <a:rPr lang="en-US" sz="1800" dirty="0"/>
              <a:t> |</a:t>
            </a:r>
            <a:r>
              <a:rPr lang="en-US" sz="1800" b="1" dirty="0">
                <a:solidFill>
                  <a:schemeClr val="tx1"/>
                </a:solidFill>
              </a:rPr>
              <a:t>TOP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/>
              <a:t>Pixel </a:t>
            </a:r>
            <a:r>
              <a:rPr lang="en-US" sz="1800" dirty="0">
                <a:solidFill>
                  <a:schemeClr val="bg1"/>
                </a:solidFill>
              </a:rPr>
              <a:t>|</a:t>
            </a:r>
            <a:r>
              <a:rPr lang="en-US" sz="1800" dirty="0"/>
              <a:t> </a:t>
            </a:r>
            <a:r>
              <a:rPr lang="en-US" sz="1800" b="1" dirty="0">
                <a:solidFill>
                  <a:schemeClr val="tx1"/>
                </a:solidFill>
              </a:rPr>
              <a:t>TOP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Z-value</a:t>
            </a:r>
            <a:r>
              <a:rPr lang="en-US" sz="1800" dirty="0"/>
              <a:t>|</a:t>
            </a:r>
            <a:endParaRPr lang="en-IN" dirty="0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5E93255E-A366-0913-9241-B307F4BC964E}"/>
              </a:ext>
            </a:extLst>
          </p:cNvPr>
          <p:cNvCxnSpPr>
            <a:cxnSpLocks/>
            <a:endCxn id="32" idx="3"/>
          </p:cNvCxnSpPr>
          <p:nvPr/>
        </p:nvCxnSpPr>
        <p:spPr>
          <a:xfrm rot="16200000" flipV="1">
            <a:off x="4471964" y="3450135"/>
            <a:ext cx="715334" cy="9931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0052857-164E-34F3-EE4F-1D3A189374F0}"/>
              </a:ext>
            </a:extLst>
          </p:cNvPr>
          <p:cNvSpPr txBox="1"/>
          <p:nvPr/>
        </p:nvSpPr>
        <p:spPr>
          <a:xfrm>
            <a:off x="4886589" y="3551296"/>
            <a:ext cx="1815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Fetch from the Look table of  Previous Data 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After OP 1</a:t>
            </a:r>
            <a:endParaRPr lang="en-IN" b="1" i="1" dirty="0">
              <a:solidFill>
                <a:srgbClr val="FF0000"/>
              </a:solidFill>
            </a:endParaRP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0D663448-AA33-4567-2C5C-B0FF682F1C2B}"/>
              </a:ext>
            </a:extLst>
          </p:cNvPr>
          <p:cNvCxnSpPr>
            <a:cxnSpLocks/>
            <a:stCxn id="32" idx="1"/>
            <a:endCxn id="34" idx="3"/>
          </p:cNvCxnSpPr>
          <p:nvPr/>
        </p:nvCxnSpPr>
        <p:spPr>
          <a:xfrm rot="10800000" flipV="1">
            <a:off x="1923710" y="3589017"/>
            <a:ext cx="773474" cy="457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EAA73FE-811F-534C-3571-E05D1E65C558}"/>
              </a:ext>
            </a:extLst>
          </p:cNvPr>
          <p:cNvSpPr/>
          <p:nvPr/>
        </p:nvSpPr>
        <p:spPr>
          <a:xfrm>
            <a:off x="344467" y="4358488"/>
            <a:ext cx="1602687" cy="97396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Tip of the Trees – </a:t>
            </a:r>
            <a:r>
              <a:rPr lang="en-IN" sz="1400" b="1" dirty="0">
                <a:solidFill>
                  <a:schemeClr val="tx1"/>
                </a:solidFill>
              </a:rPr>
              <a:t>TOP </a:t>
            </a:r>
            <a:r>
              <a:rPr lang="en-IN" sz="1400" b="1" dirty="0">
                <a:solidFill>
                  <a:schemeClr val="bg1"/>
                </a:solidFill>
              </a:rPr>
              <a:t>is detected for each image</a:t>
            </a:r>
            <a:endParaRPr lang="en-IN" sz="1300" dirty="0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5C9B618B-8411-7EDA-10F9-A08C4B526D41}"/>
              </a:ext>
            </a:extLst>
          </p:cNvPr>
          <p:cNvCxnSpPr>
            <a:cxnSpLocks/>
            <a:endCxn id="28" idx="0"/>
          </p:cNvCxnSpPr>
          <p:nvPr/>
        </p:nvCxnSpPr>
        <p:spPr>
          <a:xfrm rot="16200000" flipH="1">
            <a:off x="2992680" y="1601160"/>
            <a:ext cx="756820" cy="2687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BD78B73D-3123-060F-C739-29F569AF2A06}"/>
              </a:ext>
            </a:extLst>
          </p:cNvPr>
          <p:cNvCxnSpPr>
            <a:stCxn id="34" idx="2"/>
            <a:endCxn id="47" idx="0"/>
          </p:cNvCxnSpPr>
          <p:nvPr/>
        </p:nvCxnSpPr>
        <p:spPr>
          <a:xfrm rot="16200000" flipH="1">
            <a:off x="1015717" y="4228393"/>
            <a:ext cx="236745" cy="234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C0D3F5B1-E09C-4A46-4C30-05FFDAF4C77E}"/>
              </a:ext>
            </a:extLst>
          </p:cNvPr>
          <p:cNvCxnSpPr>
            <a:cxnSpLocks/>
            <a:stCxn id="47" idx="3"/>
            <a:endCxn id="11" idx="1"/>
          </p:cNvCxnSpPr>
          <p:nvPr/>
        </p:nvCxnSpPr>
        <p:spPr>
          <a:xfrm flipV="1">
            <a:off x="1947154" y="3790557"/>
            <a:ext cx="7183013" cy="1054912"/>
          </a:xfrm>
          <a:prstGeom prst="bentConnector3">
            <a:avLst>
              <a:gd name="adj1" fmla="val 636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Connector: Elbow 2049">
            <a:extLst>
              <a:ext uri="{FF2B5EF4-FFF2-40B4-BE49-F238E27FC236}">
                <a16:creationId xmlns:a16="http://schemas.microsoft.com/office/drawing/2014/main" id="{3575FDCF-8256-82D3-57EC-C0F5C5473B69}"/>
              </a:ext>
            </a:extLst>
          </p:cNvPr>
          <p:cNvCxnSpPr>
            <a:cxnSpLocks/>
            <a:stCxn id="28" idx="2"/>
            <a:endCxn id="32" idx="0"/>
          </p:cNvCxnSpPr>
          <p:nvPr/>
        </p:nvCxnSpPr>
        <p:spPr>
          <a:xfrm rot="16200000" flipH="1">
            <a:off x="3379688" y="3048968"/>
            <a:ext cx="261243" cy="96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2" name="TextBox 2051">
            <a:extLst>
              <a:ext uri="{FF2B5EF4-FFF2-40B4-BE49-F238E27FC236}">
                <a16:creationId xmlns:a16="http://schemas.microsoft.com/office/drawing/2014/main" id="{DA3FAA73-2A80-3CC6-687B-132CEEF39D1B}"/>
              </a:ext>
            </a:extLst>
          </p:cNvPr>
          <p:cNvSpPr txBox="1"/>
          <p:nvPr/>
        </p:nvSpPr>
        <p:spPr>
          <a:xfrm>
            <a:off x="4309940" y="2158879"/>
            <a:ext cx="3403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Use 8-connectivity searches from the center of the pit value to the neighboring pixels to find the Tip of the Trees</a:t>
            </a:r>
            <a:endParaRPr lang="en-US" b="1" dirty="0"/>
          </a:p>
        </p:txBody>
      </p:sp>
      <p:cxnSp>
        <p:nvCxnSpPr>
          <p:cNvPr id="2073" name="Connector: Elbow 2072">
            <a:extLst>
              <a:ext uri="{FF2B5EF4-FFF2-40B4-BE49-F238E27FC236}">
                <a16:creationId xmlns:a16="http://schemas.microsoft.com/office/drawing/2014/main" id="{C04E345D-4B79-84EA-CA09-67046495AB8E}"/>
              </a:ext>
            </a:extLst>
          </p:cNvPr>
          <p:cNvCxnSpPr>
            <a:cxnSpLocks/>
            <a:stCxn id="12" idx="1"/>
            <a:endCxn id="37" idx="3"/>
          </p:cNvCxnSpPr>
          <p:nvPr/>
        </p:nvCxnSpPr>
        <p:spPr>
          <a:xfrm rot="10800000" flipV="1">
            <a:off x="9337932" y="5962360"/>
            <a:ext cx="203425" cy="1779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9" name="Rectangle: Rounded Corners 2088">
            <a:extLst>
              <a:ext uri="{FF2B5EF4-FFF2-40B4-BE49-F238E27FC236}">
                <a16:creationId xmlns:a16="http://schemas.microsoft.com/office/drawing/2014/main" id="{BA7CFB77-5821-9286-AE21-A81D15A8FB99}"/>
              </a:ext>
            </a:extLst>
          </p:cNvPr>
          <p:cNvSpPr/>
          <p:nvPr/>
        </p:nvSpPr>
        <p:spPr>
          <a:xfrm>
            <a:off x="165100" y="5765800"/>
            <a:ext cx="1117600" cy="812221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2</a:t>
            </a:r>
          </a:p>
        </p:txBody>
      </p:sp>
      <p:cxnSp>
        <p:nvCxnSpPr>
          <p:cNvPr id="2093" name="Connector: Elbow 2092">
            <a:extLst>
              <a:ext uri="{FF2B5EF4-FFF2-40B4-BE49-F238E27FC236}">
                <a16:creationId xmlns:a16="http://schemas.microsoft.com/office/drawing/2014/main" id="{2809BE55-97ED-88C9-CCF4-8DE57FA73DA8}"/>
              </a:ext>
            </a:extLst>
          </p:cNvPr>
          <p:cNvCxnSpPr>
            <a:stCxn id="37" idx="1"/>
            <a:endCxn id="2089" idx="3"/>
          </p:cNvCxnSpPr>
          <p:nvPr/>
        </p:nvCxnSpPr>
        <p:spPr>
          <a:xfrm rot="10800000" flipV="1">
            <a:off x="1282700" y="6140311"/>
            <a:ext cx="456688" cy="315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4" name="TextBox 2093">
            <a:extLst>
              <a:ext uri="{FF2B5EF4-FFF2-40B4-BE49-F238E27FC236}">
                <a16:creationId xmlns:a16="http://schemas.microsoft.com/office/drawing/2014/main" id="{2DC02366-B9A2-F093-B50F-B65028A62438}"/>
              </a:ext>
            </a:extLst>
          </p:cNvPr>
          <p:cNvSpPr txBox="1"/>
          <p:nvPr/>
        </p:nvSpPr>
        <p:spPr>
          <a:xfrm>
            <a:off x="165100" y="86440"/>
            <a:ext cx="7326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kern="1200" dirty="0">
                <a:solidFill>
                  <a:srgbClr val="FF6600"/>
                </a:solidFill>
                <a:latin typeface="+mn-lt"/>
                <a:ea typeface="+mn-ea"/>
                <a:cs typeface="+mn-cs"/>
              </a:rPr>
              <a:t>Flow of Algorithm on Drone Images 2 </a:t>
            </a:r>
            <a:r>
              <a:rPr lang="en-US" sz="2800" b="1" dirty="0">
                <a:solidFill>
                  <a:srgbClr val="FF6600"/>
                </a:solidFill>
              </a:rPr>
              <a:t>a</a:t>
            </a:r>
            <a:r>
              <a:rPr lang="en-US" sz="2800" b="1" kern="1200" dirty="0">
                <a:solidFill>
                  <a:srgbClr val="FF6600"/>
                </a:solidFill>
                <a:latin typeface="+mn-lt"/>
                <a:ea typeface="+mn-ea"/>
                <a:cs typeface="+mn-cs"/>
              </a:rPr>
              <a:t>fter OP2</a:t>
            </a:r>
          </a:p>
        </p:txBody>
      </p:sp>
    </p:spTree>
    <p:extLst>
      <p:ext uri="{BB962C8B-B14F-4D97-AF65-F5344CB8AC3E}">
        <p14:creationId xmlns:p14="http://schemas.microsoft.com/office/powerpoint/2010/main" val="3220997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71164C-06DF-30A7-D100-C8BFF26098B4}"/>
              </a:ext>
            </a:extLst>
          </p:cNvPr>
          <p:cNvSpPr txBox="1"/>
          <p:nvPr/>
        </p:nvSpPr>
        <p:spPr>
          <a:xfrm>
            <a:off x="587830" y="200008"/>
            <a:ext cx="49094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Steps for 3D Reconstruction:</a:t>
            </a:r>
          </a:p>
          <a:p>
            <a:endParaRPr lang="en-US" b="1" dirty="0"/>
          </a:p>
          <a:p>
            <a:r>
              <a:rPr lang="en-IN" b="1" i="0" dirty="0">
                <a:solidFill>
                  <a:srgbClr val="333333"/>
                </a:solidFill>
                <a:effectLst/>
                <a:latin typeface="PT serif" panose="020F0502020204030204" pitchFamily="18" charset="0"/>
              </a:rPr>
              <a:t>FORSAT</a:t>
            </a:r>
            <a:r>
              <a:rPr lang="en-US" b="1" i="0" dirty="0">
                <a:solidFill>
                  <a:srgbClr val="333333"/>
                </a:solidFill>
                <a:effectLst/>
                <a:latin typeface="PT serif" panose="020F0502020204030204" pitchFamily="18" charset="0"/>
              </a:rPr>
              <a:t>: </a:t>
            </a:r>
            <a:r>
              <a:rPr lang="en-IN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UAV-Based Photogrammetry in Forestry </a:t>
            </a:r>
            <a:r>
              <a:rPr lang="en-IN" b="0" i="0" dirty="0">
                <a:effectLst/>
                <a:latin typeface="-apple-system"/>
              </a:rPr>
              <a:t>to generate accurate Digital Terrain Models (DTMs)</a:t>
            </a:r>
            <a:endParaRPr lang="en-US" b="1" dirty="0"/>
          </a:p>
          <a:p>
            <a:pPr algn="l"/>
            <a:endParaRPr lang="en-US" b="0" i="0" dirty="0">
              <a:effectLst/>
              <a:latin typeface="__fkGroteskNeue_598ab8"/>
            </a:endParaRPr>
          </a:p>
          <a:p>
            <a:pPr algn="l"/>
            <a:r>
              <a:rPr lang="en-US" dirty="0">
                <a:latin typeface="__fkGroteskNeue_598ab8"/>
              </a:rPr>
              <a:t>3D photogrammetry</a:t>
            </a:r>
          </a:p>
          <a:p>
            <a:pPr algn="l"/>
            <a:endParaRPr lang="en-US" dirty="0">
              <a:latin typeface="__fkGroteskNeue_598ab8"/>
            </a:endParaRPr>
          </a:p>
          <a:p>
            <a:pPr algn="l"/>
            <a:r>
              <a:rPr lang="en-US" dirty="0">
                <a:latin typeface="__fkGroteskNeue_598ab8"/>
              </a:rPr>
              <a:t> Try to find the local maximums at pit centers and if not found try for 8 connected pixels recursively to detect the tips.</a:t>
            </a:r>
            <a:endParaRPr lang="en-US" b="0" i="0" dirty="0">
              <a:effectLst/>
              <a:latin typeface="__fkGroteskNeue_598ab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007A8-A939-FD3C-6365-C81F947D2B79}"/>
              </a:ext>
            </a:extLst>
          </p:cNvPr>
          <p:cNvSpPr txBox="1"/>
          <p:nvPr/>
        </p:nvSpPr>
        <p:spPr>
          <a:xfrm>
            <a:off x="7075715" y="5956527"/>
            <a:ext cx="4811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70C0"/>
                </a:solidFill>
                <a:hlinkClick r:id="rId2"/>
              </a:rPr>
              <a:t>https://www.mdpi.com/1999-4907/13/2/173</a:t>
            </a:r>
            <a:endParaRPr lang="en-IN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rgbClr val="0070C0"/>
                </a:solidFill>
              </a:rPr>
              <a:t>https://www.mdpi.com/2072-4292/11/11/1271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3170E-1BDD-09E3-E707-B247D16FD80F}"/>
              </a:ext>
            </a:extLst>
          </p:cNvPr>
          <p:cNvSpPr txBox="1"/>
          <p:nvPr/>
        </p:nvSpPr>
        <p:spPr>
          <a:xfrm>
            <a:off x="6887934" y="5587195"/>
            <a:ext cx="2822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50021"/>
                </a:solidFill>
              </a:rPr>
              <a:t>Reference:</a:t>
            </a:r>
            <a:endParaRPr lang="en-IN" dirty="0">
              <a:solidFill>
                <a:srgbClr val="A5002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8D1A98-8806-A6E4-753D-4C19A6A87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408" y="102351"/>
            <a:ext cx="5089792" cy="502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908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6F654-D89C-CE47-1817-4123A11A2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File Png Images - Free Download on Freepik">
            <a:extLst>
              <a:ext uri="{FF2B5EF4-FFF2-40B4-BE49-F238E27FC236}">
                <a16:creationId xmlns:a16="http://schemas.microsoft.com/office/drawing/2014/main" id="{4E88B38C-AB88-9A40-1193-2706E286F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963" y="559146"/>
            <a:ext cx="936172" cy="93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12" descr="Aerial View - Dense Green Forest - CleanPNG / KissPNG">
            <a:extLst>
              <a:ext uri="{FF2B5EF4-FFF2-40B4-BE49-F238E27FC236}">
                <a16:creationId xmlns:a16="http://schemas.microsoft.com/office/drawing/2014/main" id="{FC6B481E-F743-D80E-334C-A009927A60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53905" y="466560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4" descr="Quadcopter PNG Transparent Images Free ...">
            <a:extLst>
              <a:ext uri="{FF2B5EF4-FFF2-40B4-BE49-F238E27FC236}">
                <a16:creationId xmlns:a16="http://schemas.microsoft.com/office/drawing/2014/main" id="{3C1A826D-8D59-1244-087B-922425CA7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406" y="596113"/>
            <a:ext cx="454705" cy="45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08BBEE2-C203-AE26-5C94-C83AA1E407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02" y="665756"/>
            <a:ext cx="831603" cy="77012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3908078-5DC7-6A9B-284B-5C28B98B49C4}"/>
              </a:ext>
            </a:extLst>
          </p:cNvPr>
          <p:cNvSpPr txBox="1"/>
          <p:nvPr/>
        </p:nvSpPr>
        <p:spPr>
          <a:xfrm>
            <a:off x="2551454" y="1261448"/>
            <a:ext cx="194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Drone Images  3</a:t>
            </a:r>
            <a:endParaRPr lang="en-IN" dirty="0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13A0350-ACCE-6C86-3737-F58C5FEE7F36}"/>
              </a:ext>
            </a:extLst>
          </p:cNvPr>
          <p:cNvCxnSpPr>
            <a:endCxn id="4" idx="1"/>
          </p:cNvCxnSpPr>
          <p:nvPr/>
        </p:nvCxnSpPr>
        <p:spPr>
          <a:xfrm flipV="1">
            <a:off x="1643233" y="1027232"/>
            <a:ext cx="1115730" cy="393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70FBCCD-690B-582D-6682-B383FBAAA6E6}"/>
              </a:ext>
            </a:extLst>
          </p:cNvPr>
          <p:cNvSpPr/>
          <p:nvPr/>
        </p:nvSpPr>
        <p:spPr>
          <a:xfrm>
            <a:off x="4916716" y="747994"/>
            <a:ext cx="2053770" cy="60915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Orthomosaic</a:t>
            </a:r>
            <a:r>
              <a:rPr lang="en-IN" dirty="0"/>
              <a:t> 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5192BA-5A1C-049C-7E9C-5E2D3B639C58}"/>
              </a:ext>
            </a:extLst>
          </p:cNvPr>
          <p:cNvSpPr txBox="1"/>
          <p:nvPr/>
        </p:nvSpPr>
        <p:spPr>
          <a:xfrm>
            <a:off x="3855638" y="581601"/>
            <a:ext cx="981872" cy="36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effectLst/>
                <a:latin typeface="CanvaSans"/>
              </a:rPr>
              <a:t>Pix4D</a:t>
            </a:r>
            <a:endParaRPr lang="en-IN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7EB1C39-B1B1-DA2F-B74F-02B8A3A6D369}"/>
              </a:ext>
            </a:extLst>
          </p:cNvPr>
          <p:cNvCxnSpPr>
            <a:cxnSpLocks/>
            <a:stCxn id="4" idx="3"/>
            <a:endCxn id="35" idx="1"/>
          </p:cNvCxnSpPr>
          <p:nvPr/>
        </p:nvCxnSpPr>
        <p:spPr>
          <a:xfrm>
            <a:off x="3695135" y="1027232"/>
            <a:ext cx="1221581" cy="253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16" descr="Aerial View - Dense Green Forest - CleanPNG / KissPNG">
            <a:extLst>
              <a:ext uri="{FF2B5EF4-FFF2-40B4-BE49-F238E27FC236}">
                <a16:creationId xmlns:a16="http://schemas.microsoft.com/office/drawing/2014/main" id="{2C82DADC-9741-9459-689A-FA613BF50E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670602"/>
            <a:ext cx="3215598" cy="3215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7AFE92-F729-0BE2-3DE2-90E7B6AF4E6E}"/>
              </a:ext>
            </a:extLst>
          </p:cNvPr>
          <p:cNvSpPr/>
          <p:nvPr/>
        </p:nvSpPr>
        <p:spPr>
          <a:xfrm>
            <a:off x="9130167" y="2870940"/>
            <a:ext cx="2794000" cy="183923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nvaSans"/>
              </a:rPr>
              <a:t>Extract the Geo-Coordinates from the metadata of the small images after feature-matching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B54FB5-8AF7-74BE-3518-9D8CFC62754E}"/>
              </a:ext>
            </a:extLst>
          </p:cNvPr>
          <p:cNvSpPr/>
          <p:nvPr/>
        </p:nvSpPr>
        <p:spPr>
          <a:xfrm>
            <a:off x="9541356" y="5346700"/>
            <a:ext cx="2100887" cy="123132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pixel-to-coordinate</a:t>
            </a:r>
          </a:p>
          <a:p>
            <a:pPr algn="ctr"/>
            <a:r>
              <a:rPr lang="en-IN" dirty="0"/>
              <a:t>Pixel-to-height </a:t>
            </a:r>
          </a:p>
          <a:p>
            <a:pPr algn="ctr"/>
            <a:r>
              <a:rPr lang="en-IN" dirty="0"/>
              <a:t>mapping on the </a:t>
            </a:r>
            <a:r>
              <a:rPr lang="en-IN" dirty="0" err="1"/>
              <a:t>Orthomosaic</a:t>
            </a:r>
            <a:r>
              <a:rPr lang="en-IN" dirty="0"/>
              <a:t>.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0C7D304-9ACE-903F-2E9B-51BB470603DE}"/>
              </a:ext>
            </a:extLst>
          </p:cNvPr>
          <p:cNvCxnSpPr>
            <a:cxnSpLocks/>
            <a:stCxn id="35" idx="3"/>
            <a:endCxn id="11" idx="0"/>
          </p:cNvCxnSpPr>
          <p:nvPr/>
        </p:nvCxnSpPr>
        <p:spPr>
          <a:xfrm>
            <a:off x="6970486" y="1052570"/>
            <a:ext cx="3556681" cy="18183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FA1BA2E-9A96-BDEC-8A70-666EC16954A0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rot="16200000" flipH="1">
            <a:off x="10241220" y="4996120"/>
            <a:ext cx="636526" cy="646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1ECBAEC-A6AB-01ED-B271-503587810E41}"/>
              </a:ext>
            </a:extLst>
          </p:cNvPr>
          <p:cNvSpPr txBox="1"/>
          <p:nvPr/>
        </p:nvSpPr>
        <p:spPr>
          <a:xfrm>
            <a:off x="2576362" y="1715254"/>
            <a:ext cx="3966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/>
              <a:t>COLMAR</a:t>
            </a:r>
            <a:r>
              <a:rPr lang="en-IN" dirty="0"/>
              <a:t> Software 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2284BDE-EE04-B03A-CFAD-698040E07C72}"/>
              </a:ext>
            </a:extLst>
          </p:cNvPr>
          <p:cNvSpPr/>
          <p:nvPr/>
        </p:nvSpPr>
        <p:spPr>
          <a:xfrm>
            <a:off x="2642169" y="2113965"/>
            <a:ext cx="1726631" cy="809206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3-D Reconstruction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CB8C63B-AD00-20FE-77AE-34ED7B1C5254}"/>
              </a:ext>
            </a:extLst>
          </p:cNvPr>
          <p:cNvSpPr/>
          <p:nvPr/>
        </p:nvSpPr>
        <p:spPr>
          <a:xfrm>
            <a:off x="2697184" y="3184414"/>
            <a:ext cx="1635897" cy="80920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IN" dirty="0"/>
              <a:t>elect local Maximums in Z axis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34638D3-FEF5-C0D6-A8BB-178407C47459}"/>
              </a:ext>
            </a:extLst>
          </p:cNvPr>
          <p:cNvSpPr/>
          <p:nvPr/>
        </p:nvSpPr>
        <p:spPr>
          <a:xfrm>
            <a:off x="321023" y="3147782"/>
            <a:ext cx="1602687" cy="97396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Eliminate maximums lesser than the highest maxima in a grid </a:t>
            </a:r>
            <a:endParaRPr lang="en-IN" sz="140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91B62AA-1B60-F2EA-68A3-3EA0C0483F30}"/>
              </a:ext>
            </a:extLst>
          </p:cNvPr>
          <p:cNvSpPr/>
          <p:nvPr/>
        </p:nvSpPr>
        <p:spPr>
          <a:xfrm>
            <a:off x="1739388" y="5524651"/>
            <a:ext cx="7598543" cy="123132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IN" dirty="0" err="1"/>
              <a:t>ave</a:t>
            </a:r>
            <a:r>
              <a:rPr lang="en-IN" dirty="0"/>
              <a:t> it to a new LOOK UP TABLE</a:t>
            </a:r>
          </a:p>
          <a:p>
            <a:pPr algn="ctr"/>
            <a:r>
              <a:rPr lang="en-IN" dirty="0"/>
              <a:t>|Grid </a:t>
            </a:r>
            <a:r>
              <a:rPr lang="en-IN" dirty="0" err="1"/>
              <a:t>No.|Centre</a:t>
            </a:r>
            <a:r>
              <a:rPr lang="en-IN" dirty="0"/>
              <a:t> </a:t>
            </a:r>
            <a:r>
              <a:rPr lang="en-IN" dirty="0" err="1"/>
              <a:t>Pixel|Latitude|Longitude|Altitude</a:t>
            </a:r>
            <a:r>
              <a:rPr lang="en-US" sz="1800" dirty="0"/>
              <a:t> |</a:t>
            </a:r>
            <a:r>
              <a:rPr lang="en-US" sz="1800" b="1" dirty="0">
                <a:solidFill>
                  <a:schemeClr val="tx1"/>
                </a:solidFill>
              </a:rPr>
              <a:t>TOP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/>
              <a:t>Pixel </a:t>
            </a:r>
            <a:r>
              <a:rPr lang="en-US" sz="1800" dirty="0">
                <a:solidFill>
                  <a:schemeClr val="bg1"/>
                </a:solidFill>
              </a:rPr>
              <a:t>|</a:t>
            </a:r>
            <a:r>
              <a:rPr lang="en-US" sz="1800" dirty="0"/>
              <a:t> </a:t>
            </a:r>
            <a:r>
              <a:rPr lang="en-US" sz="1800" b="1" dirty="0">
                <a:solidFill>
                  <a:schemeClr val="tx1"/>
                </a:solidFill>
              </a:rPr>
              <a:t>TOP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Z-value</a:t>
            </a:r>
            <a:r>
              <a:rPr lang="en-US" sz="1800" dirty="0"/>
              <a:t>|</a:t>
            </a:r>
            <a:endParaRPr lang="en-IN" dirty="0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DF78015-285F-B54F-CA5A-525982EE64CA}"/>
              </a:ext>
            </a:extLst>
          </p:cNvPr>
          <p:cNvCxnSpPr>
            <a:cxnSpLocks/>
            <a:endCxn id="32" idx="3"/>
          </p:cNvCxnSpPr>
          <p:nvPr/>
        </p:nvCxnSpPr>
        <p:spPr>
          <a:xfrm rot="16200000" flipV="1">
            <a:off x="4471964" y="3450135"/>
            <a:ext cx="715334" cy="9931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A3C76F6-3BB4-67C7-01F0-8BD5DFE0F33E}"/>
              </a:ext>
            </a:extLst>
          </p:cNvPr>
          <p:cNvSpPr txBox="1"/>
          <p:nvPr/>
        </p:nvSpPr>
        <p:spPr>
          <a:xfrm>
            <a:off x="4886589" y="3551296"/>
            <a:ext cx="1815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Fetch from the Look table of  Previous Data 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After OP 2</a:t>
            </a:r>
            <a:endParaRPr lang="en-IN" b="1" i="1" dirty="0">
              <a:solidFill>
                <a:srgbClr val="FF0000"/>
              </a:solidFill>
            </a:endParaRP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F7A45AF-9071-4C35-E1D4-BA0EFFAECE9D}"/>
              </a:ext>
            </a:extLst>
          </p:cNvPr>
          <p:cNvCxnSpPr>
            <a:cxnSpLocks/>
            <a:stCxn id="32" idx="1"/>
            <a:endCxn id="34" idx="3"/>
          </p:cNvCxnSpPr>
          <p:nvPr/>
        </p:nvCxnSpPr>
        <p:spPr>
          <a:xfrm rot="10800000" flipV="1">
            <a:off x="1923710" y="3589017"/>
            <a:ext cx="773474" cy="457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1EEF3D8-7B53-3CF4-1DC1-EE40F8214B9E}"/>
              </a:ext>
            </a:extLst>
          </p:cNvPr>
          <p:cNvSpPr/>
          <p:nvPr/>
        </p:nvSpPr>
        <p:spPr>
          <a:xfrm>
            <a:off x="344467" y="4358488"/>
            <a:ext cx="1602687" cy="97396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Tip of the Trees – </a:t>
            </a:r>
            <a:r>
              <a:rPr lang="en-IN" sz="1400" b="1" dirty="0">
                <a:solidFill>
                  <a:schemeClr val="tx1"/>
                </a:solidFill>
              </a:rPr>
              <a:t>TOP </a:t>
            </a:r>
            <a:r>
              <a:rPr lang="en-IN" sz="1400" b="1" dirty="0">
                <a:solidFill>
                  <a:schemeClr val="bg1"/>
                </a:solidFill>
              </a:rPr>
              <a:t>is detected for each image</a:t>
            </a:r>
            <a:endParaRPr lang="en-IN" sz="1300" dirty="0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B99D083-78BD-5DF5-5CC0-6591409CA5A7}"/>
              </a:ext>
            </a:extLst>
          </p:cNvPr>
          <p:cNvCxnSpPr>
            <a:cxnSpLocks/>
            <a:endCxn id="28" idx="0"/>
          </p:cNvCxnSpPr>
          <p:nvPr/>
        </p:nvCxnSpPr>
        <p:spPr>
          <a:xfrm rot="16200000" flipH="1">
            <a:off x="2992680" y="1601160"/>
            <a:ext cx="756820" cy="2687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513E40F-1188-D8B3-4EA4-4B7F1AD336AE}"/>
              </a:ext>
            </a:extLst>
          </p:cNvPr>
          <p:cNvCxnSpPr>
            <a:stCxn id="34" idx="2"/>
            <a:endCxn id="47" idx="0"/>
          </p:cNvCxnSpPr>
          <p:nvPr/>
        </p:nvCxnSpPr>
        <p:spPr>
          <a:xfrm rot="16200000" flipH="1">
            <a:off x="1015717" y="4228393"/>
            <a:ext cx="236745" cy="234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8524C53B-C9EB-6EE2-FAE4-EB71E095F7DB}"/>
              </a:ext>
            </a:extLst>
          </p:cNvPr>
          <p:cNvCxnSpPr>
            <a:cxnSpLocks/>
            <a:stCxn id="47" idx="3"/>
            <a:endCxn id="11" idx="1"/>
          </p:cNvCxnSpPr>
          <p:nvPr/>
        </p:nvCxnSpPr>
        <p:spPr>
          <a:xfrm flipV="1">
            <a:off x="1947154" y="3790557"/>
            <a:ext cx="7183013" cy="1054912"/>
          </a:xfrm>
          <a:prstGeom prst="bentConnector3">
            <a:avLst>
              <a:gd name="adj1" fmla="val 636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Connector: Elbow 2049">
            <a:extLst>
              <a:ext uri="{FF2B5EF4-FFF2-40B4-BE49-F238E27FC236}">
                <a16:creationId xmlns:a16="http://schemas.microsoft.com/office/drawing/2014/main" id="{360CDF80-F4FC-6EBA-7BD2-F01B12D92C5C}"/>
              </a:ext>
            </a:extLst>
          </p:cNvPr>
          <p:cNvCxnSpPr>
            <a:cxnSpLocks/>
            <a:stCxn id="28" idx="2"/>
            <a:endCxn id="32" idx="0"/>
          </p:cNvCxnSpPr>
          <p:nvPr/>
        </p:nvCxnSpPr>
        <p:spPr>
          <a:xfrm rot="16200000" flipH="1">
            <a:off x="3379688" y="3048968"/>
            <a:ext cx="261243" cy="96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2" name="TextBox 2051">
            <a:extLst>
              <a:ext uri="{FF2B5EF4-FFF2-40B4-BE49-F238E27FC236}">
                <a16:creationId xmlns:a16="http://schemas.microsoft.com/office/drawing/2014/main" id="{46071ADC-2858-A37F-B7FD-D3AA9F3A3165}"/>
              </a:ext>
            </a:extLst>
          </p:cNvPr>
          <p:cNvSpPr txBox="1"/>
          <p:nvPr/>
        </p:nvSpPr>
        <p:spPr>
          <a:xfrm>
            <a:off x="4309940" y="2158879"/>
            <a:ext cx="3403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Use 8-connectivity searches from the center of the pit value to the neighboring pixels to find the Tip of the Trees</a:t>
            </a:r>
            <a:endParaRPr lang="en-US" b="1" dirty="0"/>
          </a:p>
        </p:txBody>
      </p:sp>
      <p:cxnSp>
        <p:nvCxnSpPr>
          <p:cNvPr id="2073" name="Connector: Elbow 2072">
            <a:extLst>
              <a:ext uri="{FF2B5EF4-FFF2-40B4-BE49-F238E27FC236}">
                <a16:creationId xmlns:a16="http://schemas.microsoft.com/office/drawing/2014/main" id="{FF7A94BA-3A85-4FA6-9CC8-16D302170F54}"/>
              </a:ext>
            </a:extLst>
          </p:cNvPr>
          <p:cNvCxnSpPr>
            <a:cxnSpLocks/>
            <a:stCxn id="12" idx="1"/>
            <a:endCxn id="37" idx="3"/>
          </p:cNvCxnSpPr>
          <p:nvPr/>
        </p:nvCxnSpPr>
        <p:spPr>
          <a:xfrm rot="10800000" flipV="1">
            <a:off x="9337932" y="5962360"/>
            <a:ext cx="203425" cy="1779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9" name="Rectangle: Rounded Corners 2088">
            <a:extLst>
              <a:ext uri="{FF2B5EF4-FFF2-40B4-BE49-F238E27FC236}">
                <a16:creationId xmlns:a16="http://schemas.microsoft.com/office/drawing/2014/main" id="{EE56F971-2F38-B16E-D878-6B7301382EC4}"/>
              </a:ext>
            </a:extLst>
          </p:cNvPr>
          <p:cNvSpPr/>
          <p:nvPr/>
        </p:nvSpPr>
        <p:spPr>
          <a:xfrm>
            <a:off x="165099" y="5765800"/>
            <a:ext cx="1280105" cy="812221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3</a:t>
            </a:r>
            <a:endParaRPr lang="en-IN" dirty="0"/>
          </a:p>
        </p:txBody>
      </p:sp>
      <p:cxnSp>
        <p:nvCxnSpPr>
          <p:cNvPr id="2093" name="Connector: Elbow 2092">
            <a:extLst>
              <a:ext uri="{FF2B5EF4-FFF2-40B4-BE49-F238E27FC236}">
                <a16:creationId xmlns:a16="http://schemas.microsoft.com/office/drawing/2014/main" id="{4064BACC-560E-5A35-0033-40E2276C9E80}"/>
              </a:ext>
            </a:extLst>
          </p:cNvPr>
          <p:cNvCxnSpPr>
            <a:cxnSpLocks/>
            <a:stCxn id="37" idx="1"/>
            <a:endCxn id="2089" idx="3"/>
          </p:cNvCxnSpPr>
          <p:nvPr/>
        </p:nvCxnSpPr>
        <p:spPr>
          <a:xfrm rot="10800000" flipV="1">
            <a:off x="1445204" y="6140311"/>
            <a:ext cx="294184" cy="315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8" descr="91,600+ Soil Top View Stock Photos, Pictures &amp; Royalty-Free Images - iStock  | Soil top view on white, Farm soil top view">
            <a:extLst>
              <a:ext uri="{FF2B5EF4-FFF2-40B4-BE49-F238E27FC236}">
                <a16:creationId xmlns:a16="http://schemas.microsoft.com/office/drawing/2014/main" id="{50515C40-5403-6EAD-C55B-6F5F4F104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73224" y="699058"/>
            <a:ext cx="1085978" cy="770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CF902F-1546-0E51-1557-C1E1658072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14698" y="728601"/>
            <a:ext cx="954150" cy="7110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EC1C69-156B-B9DB-CB07-6272B60FB694}"/>
              </a:ext>
            </a:extLst>
          </p:cNvPr>
          <p:cNvSpPr txBox="1"/>
          <p:nvPr/>
        </p:nvSpPr>
        <p:spPr>
          <a:xfrm>
            <a:off x="165099" y="137963"/>
            <a:ext cx="7326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kern="1200" dirty="0">
                <a:solidFill>
                  <a:srgbClr val="FF6600"/>
                </a:solidFill>
                <a:latin typeface="+mn-lt"/>
                <a:ea typeface="+mn-ea"/>
                <a:cs typeface="+mn-cs"/>
              </a:rPr>
              <a:t>Flow of Algorithm on Drone Images 3 </a:t>
            </a:r>
            <a:r>
              <a:rPr lang="en-US" sz="2800" b="1" dirty="0">
                <a:solidFill>
                  <a:srgbClr val="FF6600"/>
                </a:solidFill>
              </a:rPr>
              <a:t>a</a:t>
            </a:r>
            <a:r>
              <a:rPr lang="en-US" sz="2800" b="1" kern="1200" dirty="0">
                <a:solidFill>
                  <a:srgbClr val="FF6600"/>
                </a:solidFill>
                <a:latin typeface="+mn-lt"/>
                <a:ea typeface="+mn-ea"/>
                <a:cs typeface="+mn-cs"/>
              </a:rPr>
              <a:t>fter OP3</a:t>
            </a:r>
          </a:p>
        </p:txBody>
      </p:sp>
    </p:spTree>
    <p:extLst>
      <p:ext uri="{BB962C8B-B14F-4D97-AF65-F5344CB8AC3E}">
        <p14:creationId xmlns:p14="http://schemas.microsoft.com/office/powerpoint/2010/main" val="4014064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3D4548CC-F83F-99D5-1448-FDDA5B71D4A8}"/>
              </a:ext>
            </a:extLst>
          </p:cNvPr>
          <p:cNvSpPr/>
          <p:nvPr/>
        </p:nvSpPr>
        <p:spPr>
          <a:xfrm>
            <a:off x="247650" y="3185783"/>
            <a:ext cx="2946400" cy="812800"/>
          </a:xfrm>
          <a:prstGeom prst="parallelogram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1</a:t>
            </a:r>
            <a:endParaRPr lang="en-IN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2EF3A0D2-ED7B-3ED2-CCE5-8CD31A147901}"/>
              </a:ext>
            </a:extLst>
          </p:cNvPr>
          <p:cNvSpPr/>
          <p:nvPr/>
        </p:nvSpPr>
        <p:spPr>
          <a:xfrm>
            <a:off x="247650" y="4462133"/>
            <a:ext cx="2946400" cy="812800"/>
          </a:xfrm>
          <a:prstGeom prst="parallelogram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2</a:t>
            </a:r>
            <a:endParaRPr lang="en-IN" dirty="0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5A571894-B280-7448-FFB4-48E5C4C2882B}"/>
              </a:ext>
            </a:extLst>
          </p:cNvPr>
          <p:cNvSpPr/>
          <p:nvPr/>
        </p:nvSpPr>
        <p:spPr>
          <a:xfrm>
            <a:off x="247650" y="5871833"/>
            <a:ext cx="2946400" cy="812800"/>
          </a:xfrm>
          <a:prstGeom prst="parallelogram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3</a:t>
            </a:r>
            <a:endParaRPr lang="en-IN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F83C3E5D-3558-7527-B946-74FFBB1AB2F5}"/>
              </a:ext>
            </a:extLst>
          </p:cNvPr>
          <p:cNvSpPr/>
          <p:nvPr/>
        </p:nvSpPr>
        <p:spPr>
          <a:xfrm>
            <a:off x="3364730" y="3957357"/>
            <a:ext cx="571500" cy="46355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000" dirty="0"/>
              <a:t>-</a:t>
            </a:r>
            <a:endParaRPr lang="en-IN" sz="5000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19D6795-430B-1469-9C4B-7D47EF911683}"/>
              </a:ext>
            </a:extLst>
          </p:cNvPr>
          <p:cNvSpPr/>
          <p:nvPr/>
        </p:nvSpPr>
        <p:spPr>
          <a:xfrm>
            <a:off x="3364730" y="5367057"/>
            <a:ext cx="571500" cy="46355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000" dirty="0"/>
              <a:t>-</a:t>
            </a:r>
            <a:endParaRPr lang="en-IN" sz="5000" dirty="0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AC838836-0C3F-F294-389A-787001AA7201}"/>
              </a:ext>
            </a:extLst>
          </p:cNvPr>
          <p:cNvSpPr/>
          <p:nvPr/>
        </p:nvSpPr>
        <p:spPr>
          <a:xfrm>
            <a:off x="4059938" y="3782732"/>
            <a:ext cx="2946400" cy="812800"/>
          </a:xfrm>
          <a:prstGeom prst="parallelogram">
            <a:avLst/>
          </a:prstGeom>
          <a:solidFill>
            <a:srgbClr val="0070C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Difference 1</a:t>
            </a:r>
            <a:endParaRPr lang="en-IN" dirty="0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EDFB04B2-F526-F6E4-C4A1-AA12787AEEB4}"/>
              </a:ext>
            </a:extLst>
          </p:cNvPr>
          <p:cNvSpPr/>
          <p:nvPr/>
        </p:nvSpPr>
        <p:spPr>
          <a:xfrm>
            <a:off x="4059938" y="5210271"/>
            <a:ext cx="2946400" cy="812800"/>
          </a:xfrm>
          <a:prstGeom prst="parallelogram">
            <a:avLst/>
          </a:prstGeom>
          <a:solidFill>
            <a:srgbClr val="0070C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Difference 2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FE0D39-A9FB-0E1A-FA68-453E9B5986B7}"/>
              </a:ext>
            </a:extLst>
          </p:cNvPr>
          <p:cNvCxnSpPr>
            <a:stCxn id="4" idx="2"/>
            <a:endCxn id="9" idx="1"/>
          </p:cNvCxnSpPr>
          <p:nvPr/>
        </p:nvCxnSpPr>
        <p:spPr>
          <a:xfrm>
            <a:off x="3092450" y="3592183"/>
            <a:ext cx="355974" cy="433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8F7E91-7B77-D785-C8F8-81B5B56517B7}"/>
              </a:ext>
            </a:extLst>
          </p:cNvPr>
          <p:cNvCxnSpPr>
            <a:stCxn id="6" idx="2"/>
            <a:endCxn id="9" idx="3"/>
          </p:cNvCxnSpPr>
          <p:nvPr/>
        </p:nvCxnSpPr>
        <p:spPr>
          <a:xfrm flipV="1">
            <a:off x="3092450" y="4353022"/>
            <a:ext cx="355974" cy="515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9C2E8C-35AB-20A2-2034-B75C4ED5ACBF}"/>
              </a:ext>
            </a:extLst>
          </p:cNvPr>
          <p:cNvCxnSpPr>
            <a:stCxn id="8" idx="2"/>
            <a:endCxn id="10" idx="3"/>
          </p:cNvCxnSpPr>
          <p:nvPr/>
        </p:nvCxnSpPr>
        <p:spPr>
          <a:xfrm flipV="1">
            <a:off x="3092450" y="5762722"/>
            <a:ext cx="355974" cy="515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86B860-A496-26F9-0920-56477F7FFC68}"/>
              </a:ext>
            </a:extLst>
          </p:cNvPr>
          <p:cNvCxnSpPr>
            <a:stCxn id="6" idx="2"/>
            <a:endCxn id="10" idx="1"/>
          </p:cNvCxnSpPr>
          <p:nvPr/>
        </p:nvCxnSpPr>
        <p:spPr>
          <a:xfrm>
            <a:off x="3092450" y="4868533"/>
            <a:ext cx="355974" cy="566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6125AB1-EE82-908A-C6EC-84CC2A48DD24}"/>
              </a:ext>
            </a:extLst>
          </p:cNvPr>
          <p:cNvCxnSpPr>
            <a:stCxn id="9" idx="6"/>
            <a:endCxn id="11" idx="5"/>
          </p:cNvCxnSpPr>
          <p:nvPr/>
        </p:nvCxnSpPr>
        <p:spPr>
          <a:xfrm>
            <a:off x="3936230" y="4189132"/>
            <a:ext cx="2253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B583D2D-F2EF-6B98-3BAA-DB95FD6EB1C6}"/>
              </a:ext>
            </a:extLst>
          </p:cNvPr>
          <p:cNvCxnSpPr>
            <a:cxnSpLocks/>
            <a:stCxn id="10" idx="6"/>
            <a:endCxn id="12" idx="5"/>
          </p:cNvCxnSpPr>
          <p:nvPr/>
        </p:nvCxnSpPr>
        <p:spPr>
          <a:xfrm>
            <a:off x="3936230" y="5598832"/>
            <a:ext cx="225308" cy="17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rallelogram 28">
            <a:extLst>
              <a:ext uri="{FF2B5EF4-FFF2-40B4-BE49-F238E27FC236}">
                <a16:creationId xmlns:a16="http://schemas.microsoft.com/office/drawing/2014/main" id="{925F6B0B-A11D-4925-EC1F-0A9DF84FC0D5}"/>
              </a:ext>
            </a:extLst>
          </p:cNvPr>
          <p:cNvSpPr/>
          <p:nvPr/>
        </p:nvSpPr>
        <p:spPr>
          <a:xfrm>
            <a:off x="9576053" y="5233707"/>
            <a:ext cx="2170556" cy="1290261"/>
          </a:xfrm>
          <a:prstGeom prst="parallelogram">
            <a:avLst/>
          </a:prstGeom>
          <a:solidFill>
            <a:srgbClr val="0070C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2</a:t>
            </a:r>
            <a:r>
              <a:rPr lang="en-US" sz="2000" baseline="30000" dirty="0"/>
              <a:t>nd</a:t>
            </a:r>
            <a:r>
              <a:rPr lang="en-US" sz="2000" dirty="0"/>
              <a:t> Order Difference</a:t>
            </a:r>
            <a:endParaRPr lang="en-IN" sz="2000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DE4F0E84-2675-3CBE-1B3E-52CCB654807D}"/>
              </a:ext>
            </a:extLst>
          </p:cNvPr>
          <p:cNvSpPr/>
          <p:nvPr/>
        </p:nvSpPr>
        <p:spPr>
          <a:xfrm>
            <a:off x="8765288" y="5572173"/>
            <a:ext cx="571500" cy="46355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000" dirty="0"/>
              <a:t>-</a:t>
            </a:r>
            <a:endParaRPr lang="en-IN" sz="50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8C0257F-DA0E-E8C5-0571-8AF1ECB6128A}"/>
              </a:ext>
            </a:extLst>
          </p:cNvPr>
          <p:cNvCxnSpPr>
            <a:stCxn id="11" idx="2"/>
            <a:endCxn id="31" idx="1"/>
          </p:cNvCxnSpPr>
          <p:nvPr/>
        </p:nvCxnSpPr>
        <p:spPr>
          <a:xfrm>
            <a:off x="6904738" y="4189132"/>
            <a:ext cx="1944244" cy="1450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EE0A422-C724-A064-8F9D-8A196A925786}"/>
              </a:ext>
            </a:extLst>
          </p:cNvPr>
          <p:cNvCxnSpPr>
            <a:stCxn id="12" idx="2"/>
            <a:endCxn id="31" idx="3"/>
          </p:cNvCxnSpPr>
          <p:nvPr/>
        </p:nvCxnSpPr>
        <p:spPr>
          <a:xfrm>
            <a:off x="6904738" y="5616671"/>
            <a:ext cx="1944244" cy="351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590F98D-25BA-DF79-65C3-321377A696C0}"/>
              </a:ext>
            </a:extLst>
          </p:cNvPr>
          <p:cNvCxnSpPr>
            <a:stCxn id="31" idx="6"/>
            <a:endCxn id="29" idx="5"/>
          </p:cNvCxnSpPr>
          <p:nvPr/>
        </p:nvCxnSpPr>
        <p:spPr>
          <a:xfrm>
            <a:off x="9336788" y="5803948"/>
            <a:ext cx="400548" cy="74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9B31341-07DD-5D96-F3DB-07A8E2BF0602}"/>
              </a:ext>
            </a:extLst>
          </p:cNvPr>
          <p:cNvSpPr txBox="1"/>
          <p:nvPr/>
        </p:nvSpPr>
        <p:spPr>
          <a:xfrm>
            <a:off x="4161538" y="2661023"/>
            <a:ext cx="4650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Grid</a:t>
            </a:r>
          </a:p>
          <a:p>
            <a:r>
              <a:rPr lang="en-US" dirty="0"/>
              <a:t>+</a:t>
            </a:r>
            <a:r>
              <a:rPr lang="en-US" dirty="0" err="1"/>
              <a:t>ve</a:t>
            </a:r>
            <a:r>
              <a:rPr lang="en-US" dirty="0"/>
              <a:t> means tree in growing,</a:t>
            </a:r>
          </a:p>
          <a:p>
            <a:r>
              <a:rPr lang="en-US" dirty="0"/>
              <a:t>-</a:t>
            </a:r>
            <a:r>
              <a:rPr lang="en-US" dirty="0" err="1"/>
              <a:t>ve</a:t>
            </a:r>
            <a:r>
              <a:rPr lang="en-US" dirty="0"/>
              <a:t> means the tree is dead or decayed</a:t>
            </a:r>
          </a:p>
          <a:p>
            <a:r>
              <a:rPr lang="en-US" dirty="0"/>
              <a:t>0 means no growth, either dead or diseased</a:t>
            </a:r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92B56-D941-235E-E2DF-FF604E95A3EE}"/>
              </a:ext>
            </a:extLst>
          </p:cNvPr>
          <p:cNvSpPr txBox="1"/>
          <p:nvPr/>
        </p:nvSpPr>
        <p:spPr>
          <a:xfrm>
            <a:off x="4965315" y="4864375"/>
            <a:ext cx="146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  <a:r>
              <a:rPr lang="en-US" dirty="0" err="1"/>
              <a:t>ve</a:t>
            </a:r>
            <a:r>
              <a:rPr lang="en-US" dirty="0"/>
              <a:t>, -</a:t>
            </a:r>
            <a:r>
              <a:rPr lang="en-US" dirty="0" err="1"/>
              <a:t>ve</a:t>
            </a:r>
            <a:r>
              <a:rPr lang="en-US" dirty="0"/>
              <a:t> or 0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AAC8F5-736E-ABCA-BD10-9A06E25D31BF}"/>
              </a:ext>
            </a:extLst>
          </p:cNvPr>
          <p:cNvSpPr txBox="1"/>
          <p:nvPr/>
        </p:nvSpPr>
        <p:spPr>
          <a:xfrm>
            <a:off x="9088247" y="2135612"/>
            <a:ext cx="32170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Grid :</a:t>
            </a:r>
          </a:p>
          <a:p>
            <a:r>
              <a:rPr lang="en-US" dirty="0"/>
              <a:t>If diff1&gt;0 :</a:t>
            </a:r>
          </a:p>
          <a:p>
            <a:r>
              <a:rPr lang="en-US" dirty="0"/>
              <a:t>   +</a:t>
            </a:r>
            <a:r>
              <a:rPr lang="en-US" dirty="0" err="1"/>
              <a:t>ve</a:t>
            </a:r>
            <a:r>
              <a:rPr lang="en-US" dirty="0"/>
              <a:t> means growing rising</a:t>
            </a:r>
          </a:p>
          <a:p>
            <a:r>
              <a:rPr lang="en-US" dirty="0"/>
              <a:t>   -</a:t>
            </a:r>
            <a:r>
              <a:rPr lang="en-US" dirty="0" err="1"/>
              <a:t>ve</a:t>
            </a:r>
            <a:r>
              <a:rPr lang="en-US" dirty="0"/>
              <a:t> means growth is slowing</a:t>
            </a:r>
          </a:p>
          <a:p>
            <a:r>
              <a:rPr lang="en-US" dirty="0"/>
              <a:t>    0 means growth is constant</a:t>
            </a:r>
          </a:p>
          <a:p>
            <a:r>
              <a:rPr lang="en-US" dirty="0"/>
              <a:t>If diff1&lt;0 :</a:t>
            </a:r>
          </a:p>
          <a:p>
            <a:r>
              <a:rPr lang="en-US" dirty="0"/>
              <a:t>  +</a:t>
            </a:r>
            <a:r>
              <a:rPr lang="en-US" dirty="0" err="1"/>
              <a:t>ve</a:t>
            </a:r>
            <a:r>
              <a:rPr lang="en-US" dirty="0"/>
              <a:t> means it may survive</a:t>
            </a:r>
          </a:p>
          <a:p>
            <a:r>
              <a:rPr lang="en-US" dirty="0"/>
              <a:t>   -</a:t>
            </a:r>
            <a:r>
              <a:rPr lang="en-US" dirty="0" err="1"/>
              <a:t>ve</a:t>
            </a:r>
            <a:r>
              <a:rPr lang="en-US" dirty="0"/>
              <a:t> means dead</a:t>
            </a:r>
          </a:p>
          <a:p>
            <a:r>
              <a:rPr lang="en-US" dirty="0"/>
              <a:t>    0 means dead</a:t>
            </a:r>
          </a:p>
          <a:p>
            <a:r>
              <a:rPr lang="en-US" dirty="0"/>
              <a:t>Further Analysis is possible</a:t>
            </a:r>
          </a:p>
          <a:p>
            <a:r>
              <a:rPr lang="en-US" dirty="0"/>
              <a:t>with real values from real Data.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2BEB6B-84FB-8F65-6D6A-FA0C3465E957}"/>
              </a:ext>
            </a:extLst>
          </p:cNvPr>
          <p:cNvSpPr txBox="1"/>
          <p:nvPr/>
        </p:nvSpPr>
        <p:spPr>
          <a:xfrm>
            <a:off x="333825" y="395100"/>
            <a:ext cx="60919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FF6600"/>
                </a:solidFill>
              </a:rPr>
              <a:t>Analysis </a:t>
            </a:r>
            <a:r>
              <a:rPr lang="en-US" sz="3000" b="1" kern="1200" dirty="0">
                <a:solidFill>
                  <a:srgbClr val="FF6600"/>
                </a:solidFill>
                <a:latin typeface="+mn-lt"/>
                <a:ea typeface="+mn-ea"/>
                <a:cs typeface="+mn-cs"/>
              </a:rPr>
              <a:t>based on Difference</a:t>
            </a:r>
            <a:endParaRPr lang="en-IN" sz="3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478AE5-D369-9AD7-AB36-53FFD7F53D46}"/>
              </a:ext>
            </a:extLst>
          </p:cNvPr>
          <p:cNvSpPr txBox="1"/>
          <p:nvPr/>
        </p:nvSpPr>
        <p:spPr>
          <a:xfrm>
            <a:off x="931789" y="1251324"/>
            <a:ext cx="108148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A50021"/>
                </a:solidFill>
                <a:highlight>
                  <a:srgbClr val="FFFF00"/>
                </a:highlight>
                <a:latin typeface="Script MT Bold" panose="03040602040607080904" pitchFamily="66" charset="0"/>
              </a:rPr>
              <a:t>Spatial Filters and </a:t>
            </a:r>
            <a:r>
              <a:rPr lang="en-US" sz="3000" b="1" dirty="0" err="1">
                <a:solidFill>
                  <a:srgbClr val="A50021"/>
                </a:solidFill>
                <a:highlight>
                  <a:srgbClr val="FFFF00"/>
                </a:highlight>
                <a:latin typeface="Script MT Bold" panose="03040602040607080904" pitchFamily="66" charset="0"/>
              </a:rPr>
              <a:t>DoG</a:t>
            </a:r>
            <a:r>
              <a:rPr lang="en-US" sz="3000" b="1" dirty="0">
                <a:solidFill>
                  <a:srgbClr val="A50021"/>
                </a:solidFill>
                <a:highlight>
                  <a:srgbClr val="FFFF00"/>
                </a:highlight>
                <a:latin typeface="Script MT Bold" panose="03040602040607080904" pitchFamily="66" charset="0"/>
              </a:rPr>
              <a:t> (Difference of Gaussians) can also be used</a:t>
            </a:r>
            <a:endParaRPr lang="en-IN" sz="3000" dirty="0">
              <a:solidFill>
                <a:srgbClr val="A50021"/>
              </a:solidFill>
              <a:highlight>
                <a:srgbClr val="FFFF00"/>
              </a:highlight>
              <a:latin typeface="Script MT Bold" panose="030406020406070809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23181-3BBE-101F-3F81-73D2671C1702}"/>
              </a:ext>
            </a:extLst>
          </p:cNvPr>
          <p:cNvSpPr txBox="1"/>
          <p:nvPr/>
        </p:nvSpPr>
        <p:spPr>
          <a:xfrm>
            <a:off x="1465243" y="1905918"/>
            <a:ext cx="734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Noises like trees already present before forestation can be removed easily.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9528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 descr="square - Wiktionary, the free dictionary">
            <a:extLst>
              <a:ext uri="{FF2B5EF4-FFF2-40B4-BE49-F238E27FC236}">
                <a16:creationId xmlns:a16="http://schemas.microsoft.com/office/drawing/2014/main" id="{DBAF1753-860F-66C9-B168-07ABFF2E4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0180" y="1092027"/>
            <a:ext cx="1643062" cy="164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Structure of rectangular grids / Rectangular grids / Misunderstandings /  Patterns / Topdrawer / Home - Topdrawer">
            <a:extLst>
              <a:ext uri="{FF2B5EF4-FFF2-40B4-BE49-F238E27FC236}">
                <a16:creationId xmlns:a16="http://schemas.microsoft.com/office/drawing/2014/main" id="{CCDEC50F-9AE0-F952-782F-E8FD68C8E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58" y="1034654"/>
            <a:ext cx="1624012" cy="1203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quare - Wiktionary, the free dictionary">
            <a:extLst>
              <a:ext uri="{FF2B5EF4-FFF2-40B4-BE49-F238E27FC236}">
                <a16:creationId xmlns:a16="http://schemas.microsoft.com/office/drawing/2014/main" id="{6B1A61AF-3931-9EC4-C088-0407183F3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439" y="849248"/>
            <a:ext cx="1643062" cy="164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B321D2-42EF-A180-0D3F-96C4550EE8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87" r="55352"/>
          <a:stretch/>
        </p:blipFill>
        <p:spPr>
          <a:xfrm flipV="1">
            <a:off x="2847350" y="1034655"/>
            <a:ext cx="1483350" cy="1203542"/>
          </a:xfrm>
          <a:prstGeom prst="rect">
            <a:avLst/>
          </a:prstGeom>
        </p:spPr>
      </p:pic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B62E9F9-13A7-B861-8E07-65585F289354}"/>
              </a:ext>
            </a:extLst>
          </p:cNvPr>
          <p:cNvCxnSpPr>
            <a:cxnSpLocks/>
            <a:stCxn id="3074" idx="3"/>
          </p:cNvCxnSpPr>
          <p:nvPr/>
        </p:nvCxnSpPr>
        <p:spPr>
          <a:xfrm>
            <a:off x="1879770" y="1636426"/>
            <a:ext cx="1282530" cy="2199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5819E97-9092-69B9-521F-080D5845F41E}"/>
              </a:ext>
            </a:extLst>
          </p:cNvPr>
          <p:cNvCxnSpPr>
            <a:cxnSpLocks/>
          </p:cNvCxnSpPr>
          <p:nvPr/>
        </p:nvCxnSpPr>
        <p:spPr>
          <a:xfrm flipV="1">
            <a:off x="4147969" y="1691308"/>
            <a:ext cx="601831" cy="2222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CFD6EE-DE92-C7AC-0382-10C249CF10E1}"/>
              </a:ext>
            </a:extLst>
          </p:cNvPr>
          <p:cNvSpPr/>
          <p:nvPr/>
        </p:nvSpPr>
        <p:spPr>
          <a:xfrm>
            <a:off x="4808538" y="1183307"/>
            <a:ext cx="3484562" cy="200183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/>
              <a:t>Apply the Region Growing Algorithm to add connected greens with the grid center pixel (Orthomosaic-1) or tip of the tree pixel (Orthomosaic-2) and eliminate green pixels that are not connected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6EEED2-E170-7E2D-91DE-4A374A4F8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65108" r="63542" b="1"/>
          <a:stretch/>
        </p:blipFill>
        <p:spPr>
          <a:xfrm flipV="1">
            <a:off x="9230180" y="1274026"/>
            <a:ext cx="1211263" cy="863823"/>
          </a:xfrm>
          <a:prstGeom prst="rect">
            <a:avLst/>
          </a:prstGeom>
        </p:spPr>
      </p:pic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3660280-817A-9B06-54BD-A9150542B4F6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8293100" y="2137849"/>
            <a:ext cx="1244600" cy="463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CFA2004-0F20-7324-E705-498FEBEAF477}"/>
              </a:ext>
            </a:extLst>
          </p:cNvPr>
          <p:cNvSpPr/>
          <p:nvPr/>
        </p:nvSpPr>
        <p:spPr>
          <a:xfrm>
            <a:off x="8470900" y="3661453"/>
            <a:ext cx="3484562" cy="164306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/>
              <a:t>Apply the Region Growing Algorithm to add connected greens with the grid center of the tip of the tree pixel and eliminate green pixels that are not connected</a:t>
            </a:r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B3C0BB3-DAA8-3E06-B228-D571AF5B68AE}"/>
              </a:ext>
            </a:extLst>
          </p:cNvPr>
          <p:cNvSpPr/>
          <p:nvPr/>
        </p:nvSpPr>
        <p:spPr>
          <a:xfrm>
            <a:off x="8470900" y="5841319"/>
            <a:ext cx="3484562" cy="82153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Calculate the number of Green pixels in each Grid</a:t>
            </a:r>
            <a:endParaRPr lang="en-IN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5481A369-EDC7-D90C-D155-749F423EA1BD}"/>
              </a:ext>
            </a:extLst>
          </p:cNvPr>
          <p:cNvCxnSpPr>
            <a:cxnSpLocks/>
            <a:endCxn id="20" idx="0"/>
          </p:cNvCxnSpPr>
          <p:nvPr/>
        </p:nvCxnSpPr>
        <p:spPr>
          <a:xfrm rot="16200000" flipH="1">
            <a:off x="9538519" y="2986790"/>
            <a:ext cx="1169143" cy="1801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3DAAFAF-4583-7F71-3CA4-64CE687A99AB}"/>
              </a:ext>
            </a:extLst>
          </p:cNvPr>
          <p:cNvSpPr/>
          <p:nvPr/>
        </p:nvSpPr>
        <p:spPr>
          <a:xfrm>
            <a:off x="4972050" y="4094163"/>
            <a:ext cx="2247900" cy="1179173"/>
          </a:xfrm>
          <a:prstGeom prst="round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Pretrained Model for Measuring Health with GCI and NDVI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9B7065A-EB53-C2EC-2348-DBAA2F02E6E3}"/>
              </a:ext>
            </a:extLst>
          </p:cNvPr>
          <p:cNvCxnSpPr>
            <a:cxnSpLocks/>
            <a:stCxn id="20" idx="1"/>
            <a:endCxn id="28" idx="3"/>
          </p:cNvCxnSpPr>
          <p:nvPr/>
        </p:nvCxnSpPr>
        <p:spPr>
          <a:xfrm rot="10800000" flipV="1">
            <a:off x="7219950" y="4482984"/>
            <a:ext cx="1250950" cy="2007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48A0418-8421-11E1-E90F-1979F6D85291}"/>
              </a:ext>
            </a:extLst>
          </p:cNvPr>
          <p:cNvSpPr/>
          <p:nvPr/>
        </p:nvSpPr>
        <p:spPr>
          <a:xfrm>
            <a:off x="2293938" y="4094164"/>
            <a:ext cx="2100262" cy="117917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 for each tree or </a:t>
            </a:r>
            <a:r>
              <a:rPr lang="en-US" dirty="0" err="1"/>
              <a:t>Sappling</a:t>
            </a:r>
            <a:endParaRPr lang="en-IN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9670AA6-2414-BFC7-2794-711A71722991}"/>
              </a:ext>
            </a:extLst>
          </p:cNvPr>
          <p:cNvCxnSpPr>
            <a:stCxn id="28" idx="1"/>
            <a:endCxn id="47" idx="3"/>
          </p:cNvCxnSpPr>
          <p:nvPr/>
        </p:nvCxnSpPr>
        <p:spPr>
          <a:xfrm rot="10800000">
            <a:off x="4394200" y="4683750"/>
            <a:ext cx="577850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9FC227A-0FA7-EAC0-A6FB-27B5BF01D0F9}"/>
              </a:ext>
            </a:extLst>
          </p:cNvPr>
          <p:cNvSpPr txBox="1"/>
          <p:nvPr/>
        </p:nvSpPr>
        <p:spPr>
          <a:xfrm>
            <a:off x="1815280" y="1802433"/>
            <a:ext cx="2027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Eliminate</a:t>
            </a:r>
          </a:p>
          <a:p>
            <a:pPr algn="just"/>
            <a:r>
              <a:rPr lang="en-US" dirty="0"/>
              <a:t> Soil from</a:t>
            </a:r>
          </a:p>
          <a:p>
            <a:pPr algn="just"/>
            <a:r>
              <a:rPr lang="en-US" dirty="0"/>
              <a:t> the Background</a:t>
            </a:r>
            <a:endParaRPr lang="en-I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F7275C-3352-FFFB-F93E-EB4429B7B6B8}"/>
              </a:ext>
            </a:extLst>
          </p:cNvPr>
          <p:cNvSpPr txBox="1"/>
          <p:nvPr/>
        </p:nvSpPr>
        <p:spPr>
          <a:xfrm>
            <a:off x="4972050" y="5320616"/>
            <a:ext cx="295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</a:t>
            </a:r>
            <a:r>
              <a:rPr lang="en-US" dirty="0" err="1"/>
              <a:t>Unet</a:t>
            </a:r>
            <a:r>
              <a:rPr lang="en-US" dirty="0"/>
              <a:t>, DeepLabV3+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2580E0A-5721-23AA-226D-304F465936B6}"/>
              </a:ext>
            </a:extLst>
          </p:cNvPr>
          <p:cNvSpPr/>
          <p:nvPr/>
        </p:nvSpPr>
        <p:spPr>
          <a:xfrm>
            <a:off x="5045869" y="5817793"/>
            <a:ext cx="2100262" cy="84505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Further Analysis</a:t>
            </a:r>
            <a:endParaRPr lang="en-IN" dirty="0"/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28B370C6-8282-EE46-2B74-3F6A86FF0EA9}"/>
              </a:ext>
            </a:extLst>
          </p:cNvPr>
          <p:cNvCxnSpPr>
            <a:stCxn id="22" idx="1"/>
            <a:endCxn id="53" idx="3"/>
          </p:cNvCxnSpPr>
          <p:nvPr/>
        </p:nvCxnSpPr>
        <p:spPr>
          <a:xfrm rot="10800000">
            <a:off x="7146132" y="6240323"/>
            <a:ext cx="1324769" cy="117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A521AFD-904D-FD6C-161B-B41CD7671912}"/>
              </a:ext>
            </a:extLst>
          </p:cNvPr>
          <p:cNvSpPr txBox="1"/>
          <p:nvPr/>
        </p:nvSpPr>
        <p:spPr>
          <a:xfrm>
            <a:off x="190973" y="328529"/>
            <a:ext cx="73262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kern="1200" dirty="0">
                <a:solidFill>
                  <a:srgbClr val="FF6600"/>
                </a:solidFill>
                <a:latin typeface="+mn-lt"/>
                <a:ea typeface="+mn-ea"/>
                <a:cs typeface="+mn-cs"/>
              </a:rPr>
              <a:t>Individual Analysis based on </a:t>
            </a:r>
            <a:r>
              <a:rPr lang="en-US" sz="3000" b="1" kern="1200" dirty="0" err="1">
                <a:solidFill>
                  <a:srgbClr val="FF6600"/>
                </a:solidFill>
                <a:latin typeface="+mn-lt"/>
                <a:ea typeface="+mn-ea"/>
                <a:cs typeface="+mn-cs"/>
              </a:rPr>
              <a:t>Greenary</a:t>
            </a:r>
            <a:endParaRPr lang="en-US" sz="3000" b="1" kern="1200" dirty="0">
              <a:solidFill>
                <a:srgbClr val="FF660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50" name="Picture 2" descr="sigma(X)^(2)-sigma(Y)^(2))/(sigma(X)^(2)+sigma(Y)^(2))">
            <a:extLst>
              <a:ext uri="{FF2B5EF4-FFF2-40B4-BE49-F238E27FC236}">
                <a16:creationId xmlns:a16="http://schemas.microsoft.com/office/drawing/2014/main" id="{112433D0-2ACF-4047-1448-D18ACB740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681" y="5382728"/>
            <a:ext cx="1140536" cy="91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B1C70B-35EF-7BB3-CB36-6D7636783283}"/>
              </a:ext>
            </a:extLst>
          </p:cNvPr>
          <p:cNvSpPr txBox="1"/>
          <p:nvPr/>
        </p:nvSpPr>
        <p:spPr>
          <a:xfrm>
            <a:off x="2293938" y="6344805"/>
            <a:ext cx="2027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Relative Grading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4658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947</Words>
  <Application>Microsoft Office PowerPoint</Application>
  <PresentationFormat>Widescreen</PresentationFormat>
  <Paragraphs>117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__fkGroteskNeue_598ab8</vt:lpstr>
      <vt:lpstr>-apple-system</vt:lpstr>
      <vt:lpstr>Arial</vt:lpstr>
      <vt:lpstr>Bauhaus 93</vt:lpstr>
      <vt:lpstr>Calibri</vt:lpstr>
      <vt:lpstr>Calibri Light</vt:lpstr>
      <vt:lpstr>CanvaSans</vt:lpstr>
      <vt:lpstr>Exo</vt:lpstr>
      <vt:lpstr>Google Sans</vt:lpstr>
      <vt:lpstr>PT serif</vt:lpstr>
      <vt:lpstr>Script MT Bold</vt:lpstr>
      <vt:lpstr>Times New Roman</vt:lpstr>
      <vt:lpstr>Office Theme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Arka Singha</dc:creator>
  <cp:lastModifiedBy>Arka Singha</cp:lastModifiedBy>
  <cp:revision>15</cp:revision>
  <dcterms:created xsi:type="dcterms:W3CDTF">2025-01-12T12:02:27Z</dcterms:created>
  <dcterms:modified xsi:type="dcterms:W3CDTF">2025-01-18T05:28:50Z</dcterms:modified>
</cp:coreProperties>
</file>